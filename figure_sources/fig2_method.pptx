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0720" cy="1682496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" name="Stage 1 frame"/>
          <p:cNvGrpSpPr/>
          <p:nvPr/>
        </p:nvGrpSpPr>
        <p:grpSpPr>
          <a:xfrm>
            <a:off x="0" y="0"/>
            <a:ext cx="1645920" cy="1682496"/>
            <a:chOff x="0" y="0"/>
            <a:chExt cx="1645920" cy="1682496"/>
          </a:xfrm>
        </p:grpSpPr>
        <p:sp>
          <p:nvSpPr>
            <p:cNvPr id="2" name="Stage 1 panel"/>
            <p:cNvSpPr/>
            <p:nvPr/>
          </p:nvSpPr>
          <p:spPr>
            <a:xfrm>
              <a:off x="0" y="0"/>
              <a:ext cx="1645920" cy="1682496"/>
            </a:xfrm>
            <a:prstGeom prst="roundRect">
              <a:avLst>
                <a:gd name="adj" fmla="val 3600"/>
              </a:avLst>
            </a:prstGeom>
            <a:solidFill>
              <a:srgbClr val="ECF3FB"/>
            </a:solidFill>
            <a:ln>
              <a:noFill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3" name="Stage 1 header"/>
            <p:cNvSpPr/>
            <p:nvPr/>
          </p:nvSpPr>
          <p:spPr>
            <a:xfrm>
              <a:off x="54864" y="54864"/>
              <a:ext cx="1536192" cy="201168"/>
            </a:xfrm>
            <a:prstGeom prst="roundRect">
              <a:avLst>
                <a:gd name="adj" fmla="val 26000"/>
              </a:avLst>
            </a:prstGeom>
            <a:solidFill>
              <a:srgbClr val="D5E5F8"/>
            </a:solidFill>
            <a:ln>
              <a:noFill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4" name="Stage 1 badge"/>
            <p:cNvSpPr/>
            <p:nvPr/>
          </p:nvSpPr>
          <p:spPr>
            <a:xfrm>
              <a:off x="100584" y="86868"/>
              <a:ext cx="137160" cy="137160"/>
            </a:xfrm>
            <a:prstGeom prst="ellipse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975" b="0" i="0" baseline="-2500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rPr>
                <a:t xml:space="preserve"> </a:t>
              </a:r>
              <a:r>
                <a:rPr lang="en-US" sz="750" b="1" i="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  <a:r>
                <a:rPr lang="en-US" sz="975" b="0" i="0" baseline="-2500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rPr>
                <a:t xml:space="preserve"> </a:t>
              </a:r>
              <a:endPara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5" name="Stage 1 title"/>
            <p:cNvSpPr txBox="1"/>
            <p:nvPr/>
          </p:nvSpPr>
          <p:spPr>
            <a:xfrm>
              <a:off x="283464" y="54864"/>
              <a:ext cx="1280160" cy="2011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850" b="1" i="0" dirty="0">
                  <a:solidFill>
                    <a:srgbClr val="1C5CAB"/>
                  </a:solidFill>
                  <a:latin typeface="Times New Roman"/>
                  <a:ea typeface="Times New Roman"/>
                  <a:cs typeface="Times New Roman"/>
                </a:rPr>
                <a:t>Forward solving</a:t>
              </a:r>
              <a:r>
                <a:rPr lang="en-US" sz="1105" b="0" i="0" baseline="-2500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rPr>
                <a:t xml:space="preserve"> </a:t>
              </a:r>
              <a:endParaRPr lang="en-US" sz="8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</p:grpSp>
      <p:grpSp>
        <p:nvGrpSpPr>
          <p:cNvPr id="11" name="Stage 2 frame"/>
          <p:cNvGrpSpPr/>
          <p:nvPr/>
        </p:nvGrpSpPr>
        <p:grpSpPr>
          <a:xfrm>
            <a:off x="1691640" y="0"/>
            <a:ext cx="2048256" cy="1682496"/>
            <a:chOff x="1691640" y="0"/>
            <a:chExt cx="2048256" cy="1682496"/>
          </a:xfrm>
        </p:grpSpPr>
        <p:sp>
          <p:nvSpPr>
            <p:cNvPr id="7" name="Stage 2 panel"/>
            <p:cNvSpPr/>
            <p:nvPr/>
          </p:nvSpPr>
          <p:spPr>
            <a:xfrm>
              <a:off x="1691640" y="0"/>
              <a:ext cx="2048256" cy="1682496"/>
            </a:xfrm>
            <a:prstGeom prst="roundRect">
              <a:avLst>
                <a:gd name="adj" fmla="val 3600"/>
              </a:avLst>
            </a:prstGeom>
            <a:solidFill>
              <a:srgbClr val="E8F7F2"/>
            </a:solidFill>
            <a:ln>
              <a:noFill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8" name="Stage 2 header"/>
            <p:cNvSpPr/>
            <p:nvPr/>
          </p:nvSpPr>
          <p:spPr>
            <a:xfrm>
              <a:off x="1746504" y="54864"/>
              <a:ext cx="1938528" cy="201168"/>
            </a:xfrm>
            <a:prstGeom prst="roundRect">
              <a:avLst>
                <a:gd name="adj" fmla="val 26000"/>
              </a:avLst>
            </a:prstGeom>
            <a:solidFill>
              <a:srgbClr val="C9ECDD"/>
            </a:solidFill>
            <a:ln>
              <a:noFill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9" name="Stage 2 badge"/>
            <p:cNvSpPr/>
            <p:nvPr/>
          </p:nvSpPr>
          <p:spPr>
            <a:xfrm>
              <a:off x="1792224" y="86868"/>
              <a:ext cx="137160" cy="137160"/>
            </a:xfrm>
            <a:prstGeom prst="ellipse">
              <a:avLst/>
            </a:prstGeom>
            <a:solidFill>
              <a:srgbClr val="1BAF7A"/>
            </a:solidFill>
            <a:ln>
              <a:noFill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975" b="0" i="0" baseline="-2500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rPr>
                <a:t xml:space="preserve"> </a:t>
              </a:r>
              <a:r>
                <a:rPr lang="en-US" sz="750" b="1" i="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  <a:r>
                <a:rPr lang="en-US" sz="975" b="0" i="0" baseline="-2500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rPr>
                <a:t xml:space="preserve"> </a:t>
              </a:r>
              <a:endPara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10" name="Stage 2 title"/>
            <p:cNvSpPr txBox="1"/>
            <p:nvPr/>
          </p:nvSpPr>
          <p:spPr>
            <a:xfrm>
              <a:off x="1975104" y="54864"/>
              <a:ext cx="1682496" cy="2011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850" b="1" i="0" dirty="0">
                  <a:solidFill>
                    <a:srgbClr val="0F7A53"/>
                  </a:solidFill>
                  <a:latin typeface="Times New Roman"/>
                  <a:ea typeface="Times New Roman"/>
                  <a:cs typeface="Times New Roman"/>
                </a:rPr>
                <a:t>Inverse solving: given recovery</a:t>
              </a:r>
              <a:r>
                <a:rPr lang="en-US" sz="1105" b="0" i="0" baseline="-2500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rPr>
                <a:t xml:space="preserve"> </a:t>
              </a:r>
              <a:endParaRPr lang="en-US" sz="8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</p:grpSp>
      <p:grpSp>
        <p:nvGrpSpPr>
          <p:cNvPr id="16" name="Stage 3 frame"/>
          <p:cNvGrpSpPr/>
          <p:nvPr/>
        </p:nvGrpSpPr>
        <p:grpSpPr>
          <a:xfrm>
            <a:off x="3785616" y="0"/>
            <a:ext cx="1975104" cy="1682496"/>
            <a:chOff x="3785616" y="0"/>
            <a:chExt cx="1975104" cy="1682496"/>
          </a:xfrm>
        </p:grpSpPr>
        <p:sp>
          <p:nvSpPr>
            <p:cNvPr id="12" name="Stage 3 panel"/>
            <p:cNvSpPr/>
            <p:nvPr/>
          </p:nvSpPr>
          <p:spPr>
            <a:xfrm>
              <a:off x="3785616" y="0"/>
              <a:ext cx="1975104" cy="1682496"/>
            </a:xfrm>
            <a:prstGeom prst="roundRect">
              <a:avLst>
                <a:gd name="adj" fmla="val 3600"/>
              </a:avLst>
            </a:prstGeom>
            <a:solidFill>
              <a:srgbClr val="F6F5F2"/>
            </a:solidFill>
            <a:ln>
              <a:noFill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13" name="Stage 3 header"/>
            <p:cNvSpPr/>
            <p:nvPr/>
          </p:nvSpPr>
          <p:spPr>
            <a:xfrm>
              <a:off x="3840480" y="54864"/>
              <a:ext cx="1865376" cy="201168"/>
            </a:xfrm>
            <a:prstGeom prst="roundRect">
              <a:avLst>
                <a:gd name="adj" fmla="val 26000"/>
              </a:avLst>
            </a:prstGeom>
            <a:solidFill>
              <a:srgbClr val="E6E5E0"/>
            </a:solidFill>
            <a:ln>
              <a:noFill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14" name="Stage 3 badge"/>
            <p:cNvSpPr/>
            <p:nvPr/>
          </p:nvSpPr>
          <p:spPr>
            <a:xfrm>
              <a:off x="3886200" y="86868"/>
              <a:ext cx="137160" cy="137160"/>
            </a:xfrm>
            <a:prstGeom prst="ellipse">
              <a:avLst/>
            </a:prstGeom>
            <a:solidFill>
              <a:srgbClr val="6E6D68"/>
            </a:solidFill>
            <a:ln>
              <a:noFill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975" b="0" i="0" baseline="-2500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rPr>
                <a:t xml:space="preserve"> </a:t>
              </a:r>
              <a:r>
                <a:rPr lang="en-US" sz="750" b="1" i="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  <a:r>
                <a:rPr lang="en-US" sz="975" b="0" i="0" baseline="-2500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rPr>
                <a:t xml:space="preserve"> </a:t>
              </a:r>
              <a:endPara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15" name="Stage 3 title"/>
            <p:cNvSpPr txBox="1"/>
            <p:nvPr/>
          </p:nvSpPr>
          <p:spPr>
            <a:xfrm>
              <a:off x="4069080" y="54864"/>
              <a:ext cx="1609344" cy="2011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850" b="1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rPr>
                <a:t>Training: two objectives</a:t>
              </a:r>
              <a:r>
                <a:rPr lang="en-US" sz="1105" b="0" i="0" baseline="-2500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rPr>
                <a:t xml:space="preserve"> </a:t>
              </a:r>
              <a:endParaRPr lang="en-US" sz="8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17" name="Unlabeled problem"/>
          <p:cNvSpPr/>
          <p:nvPr/>
        </p:nvSpPr>
        <p:spPr>
          <a:xfrm>
            <a:off x="54864" y="329184"/>
            <a:ext cx="45720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 cap="rnd">
            <a:solidFill>
              <a:srgbClr val="C9C8C2"/>
            </a:solidFill>
            <a:round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Card title"/>
          <p:cNvSpPr txBox="1"/>
          <p:nvPr/>
        </p:nvSpPr>
        <p:spPr>
          <a:xfrm>
            <a:off x="54864" y="384048"/>
            <a:ext cx="4572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74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1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Unlabeled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74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1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problem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19" name="Editable problem document"/>
          <p:cNvGrpSpPr/>
          <p:nvPr/>
        </p:nvGrpSpPr>
        <p:grpSpPr>
          <a:xfrm>
            <a:off x="187452" y="694944"/>
            <a:ext cx="192024" cy="243922"/>
            <a:chOff x="558800" y="1092200"/>
            <a:chExt cx="234950" cy="298450"/>
          </a:xfrm>
        </p:grpSpPr>
        <p:sp>
          <p:nvSpPr>
            <p:cNvPr id="20" name="016 path"/>
            <p:cNvSpPr/>
            <p:nvPr/>
          </p:nvSpPr>
          <p:spPr>
            <a:xfrm>
              <a:off x="558800" y="1092200"/>
              <a:ext cx="234950" cy="298450"/>
            </a:xfrm>
            <a:custGeom>
              <a:avLst/>
              <a:gdLst/>
              <a:ahLst/>
              <a:cxnLst/>
              <a:rect l="l" t="t" r="r" b="b"/>
              <a:pathLst>
                <a:path w="37000" h="47000" fill="norm" stroke="1">
                  <a:moveTo>
                    <a:pt x="0" y="0"/>
                  </a:moveTo>
                  <a:lnTo>
                    <a:pt x="23000" y="0"/>
                  </a:lnTo>
                  <a:lnTo>
                    <a:pt x="37000" y="14000"/>
                  </a:lnTo>
                  <a:lnTo>
                    <a:pt x="37000" y="47000"/>
                  </a:lnTo>
                  <a:lnTo>
                    <a:pt x="0" y="47000"/>
                  </a:lnTo>
                  <a:close/>
                </a:path>
              </a:pathLst>
            </a:custGeom>
            <a:solidFill>
              <a:srgbClr val="FAFCFD"/>
            </a:solidFill>
            <a:ln w="10380">
              <a:solidFill>
                <a:srgbClr val="30516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017 path"/>
            <p:cNvSpPr/>
            <p:nvPr/>
          </p:nvSpPr>
          <p:spPr>
            <a:xfrm>
              <a:off x="704850" y="109220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14000" h="14000" fill="none" stroke="1">
                  <a:moveTo>
                    <a:pt x="0" y="0"/>
                  </a:moveTo>
                  <a:lnTo>
                    <a:pt x="0" y="14000"/>
                  </a:lnTo>
                  <a:lnTo>
                    <a:pt x="14000" y="14000"/>
                  </a:lnTo>
                </a:path>
              </a:pathLst>
            </a:custGeom>
            <a:noFill/>
            <a:ln w="10380">
              <a:solidFill>
                <a:srgbClr val="30516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018 path"/>
            <p:cNvSpPr/>
            <p:nvPr/>
          </p:nvSpPr>
          <p:spPr>
            <a:xfrm>
              <a:off x="603250" y="1231900"/>
              <a:ext cx="139700" cy="63"/>
            </a:xfrm>
            <a:custGeom>
              <a:avLst/>
              <a:gdLst/>
              <a:ahLst/>
              <a:cxnLst/>
              <a:rect l="l" t="t" r="r" b="b"/>
              <a:pathLst>
                <a:path w="22000" h="10" fill="none" stroke="1">
                  <a:moveTo>
                    <a:pt x="0" y="0"/>
                  </a:moveTo>
                  <a:lnTo>
                    <a:pt x="22000" y="0"/>
                  </a:lnTo>
                </a:path>
              </a:pathLst>
            </a:custGeom>
            <a:noFill/>
            <a:ln w="9342">
              <a:solidFill>
                <a:srgbClr val="30516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019 path"/>
            <p:cNvSpPr/>
            <p:nvPr/>
          </p:nvSpPr>
          <p:spPr>
            <a:xfrm>
              <a:off x="603250" y="1276350"/>
              <a:ext cx="139700" cy="63"/>
            </a:xfrm>
            <a:custGeom>
              <a:avLst/>
              <a:gdLst/>
              <a:ahLst/>
              <a:cxnLst/>
              <a:rect l="l" t="t" r="r" b="b"/>
              <a:pathLst>
                <a:path w="22000" h="10" fill="none" stroke="1">
                  <a:moveTo>
                    <a:pt x="0" y="0"/>
                  </a:moveTo>
                  <a:lnTo>
                    <a:pt x="22000" y="0"/>
                  </a:lnTo>
                </a:path>
              </a:pathLst>
            </a:custGeom>
            <a:noFill/>
            <a:ln w="9342">
              <a:solidFill>
                <a:srgbClr val="30516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020 path"/>
            <p:cNvSpPr/>
            <p:nvPr/>
          </p:nvSpPr>
          <p:spPr>
            <a:xfrm>
              <a:off x="603250" y="1320800"/>
              <a:ext cx="139700" cy="63"/>
            </a:xfrm>
            <a:custGeom>
              <a:avLst/>
              <a:gdLst/>
              <a:ahLst/>
              <a:cxnLst/>
              <a:rect l="l" t="t" r="r" b="b"/>
              <a:pathLst>
                <a:path w="22000" h="10" fill="none" stroke="1">
                  <a:moveTo>
                    <a:pt x="0" y="0"/>
                  </a:moveTo>
                  <a:lnTo>
                    <a:pt x="22000" y="0"/>
                  </a:lnTo>
                </a:path>
              </a:pathLst>
            </a:custGeom>
            <a:noFill/>
            <a:ln w="9342">
              <a:solidFill>
                <a:srgbClr val="30516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021 path"/>
            <p:cNvSpPr/>
            <p:nvPr/>
          </p:nvSpPr>
          <p:spPr>
            <a:xfrm>
              <a:off x="603250" y="1187450"/>
              <a:ext cx="57150" cy="63"/>
            </a:xfrm>
            <a:custGeom>
              <a:avLst/>
              <a:gdLst/>
              <a:ahLst/>
              <a:cxnLst/>
              <a:rect l="l" t="t" r="r" b="b"/>
              <a:pathLst>
                <a:path w="9000" h="10" fill="none" stroke="1">
                  <a:moveTo>
                    <a:pt x="0" y="0"/>
                  </a:moveTo>
                  <a:lnTo>
                    <a:pt x="9000" y="0"/>
                  </a:lnTo>
                </a:path>
              </a:pathLst>
            </a:custGeom>
            <a:noFill/>
            <a:ln w="9342">
              <a:solidFill>
                <a:srgbClr val="30516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" name="Problem symbol"/>
          <p:cNvSpPr txBox="1"/>
          <p:nvPr/>
        </p:nvSpPr>
        <p:spPr>
          <a:xfrm>
            <a:off x="54864" y="978408"/>
            <a:ext cx="457200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100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lang="en-US" sz="130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10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Problem note"/>
          <p:cNvSpPr txBox="1"/>
          <p:nvPr/>
        </p:nvSpPr>
        <p:spPr>
          <a:xfrm>
            <a:off x="54864" y="1225296"/>
            <a:ext cx="4572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76000"/>
              </a:lnSpc>
              <a:spcBef>
                <a:spcPts val="0"/>
              </a:spcBef>
              <a:buNone/>
            </a:pP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00" b="0" i="0" dirty="0">
                <a:solidFill>
                  <a:srgbClr val="6E6D68"/>
                </a:solidFill>
                <a:latin typeface="Times New Roman"/>
                <a:ea typeface="Times New Roman"/>
                <a:cs typeface="Times New Roman"/>
              </a:rPr>
              <a:t>with givens,</a:t>
            </a: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76000"/>
              </a:lnSpc>
              <a:spcBef>
                <a:spcPts val="0"/>
              </a:spcBef>
              <a:buNone/>
            </a:pP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00" b="0" i="0" dirty="0">
                <a:solidFill>
                  <a:srgbClr val="6E6D68"/>
                </a:solidFill>
                <a:latin typeface="Times New Roman"/>
                <a:ea typeface="Times New Roman"/>
                <a:cs typeface="Times New Roman"/>
              </a:rPr>
              <a:t>no label</a:t>
            </a: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Flow arrow"/>
          <p:cNvSpPr/>
          <p:nvPr/>
        </p:nvSpPr>
        <p:spPr>
          <a:xfrm>
            <a:off x="525780" y="914400"/>
            <a:ext cx="109728" cy="91"/>
          </a:xfrm>
          <a:custGeom>
            <a:avLst/>
            <a:gdLst/>
            <a:ahLst/>
            <a:cxnLst/>
            <a:rect l="l" t="t" r="r" b="b"/>
            <a:pathLst>
              <a:path w="109728" h="91" fill="none">
                <a:moveTo>
                  <a:pt x="0" y="0"/>
                </a:moveTo>
                <a:lnTo>
                  <a:pt x="109728" y="0"/>
                </a:lnTo>
              </a:path>
            </a:pathLst>
          </a:custGeom>
          <a:noFill/>
          <a:ln w="10160" cap="rnd">
            <a:solidFill>
              <a:srgbClr val="6E6D68"/>
            </a:solidFill>
            <a:round/>
            <a:tailEnd type="triangle" w="med" len="med"/>
          </a:ln>
          <a:effectLst/>
        </p:spPr>
        <p:txBody>
          <a:bodyPr rtlCol="0" anchor="ctr"/>
          <a:lstStyle/>
          <a:p>
            <a:endParaRPr lang="en-US" sz="800"/>
          </a:p>
        </p:txBody>
      </p:sp>
      <p:grpSp>
        <p:nvGrpSpPr>
          <p:cNvPr id="38" name="Policy"/>
          <p:cNvGrpSpPr/>
          <p:nvPr/>
        </p:nvGrpSpPr>
        <p:grpSpPr>
          <a:xfrm>
            <a:off x="649224" y="704088"/>
            <a:ext cx="274320" cy="274406"/>
            <a:chOff x="649224" y="704088"/>
            <a:chExt cx="274320" cy="274406"/>
          </a:xfrm>
        </p:grpSpPr>
        <p:sp>
          <p:nvSpPr>
            <p:cNvPr id="29" name="Antenna"/>
            <p:cNvSpPr/>
            <p:nvPr/>
          </p:nvSpPr>
          <p:spPr>
            <a:xfrm>
              <a:off x="786384" y="727964"/>
              <a:ext cx="91" cy="59605"/>
            </a:xfrm>
            <a:custGeom>
              <a:avLst/>
              <a:gdLst/>
              <a:ahLst/>
              <a:cxnLst/>
              <a:rect l="l" t="t" r="r" b="b"/>
              <a:pathLst>
                <a:path w="91" h="59605" fill="none">
                  <a:moveTo>
                    <a:pt x="0" y="0"/>
                  </a:moveTo>
                  <a:lnTo>
                    <a:pt x="0" y="59605"/>
                  </a:lnTo>
                </a:path>
              </a:pathLst>
            </a:custGeom>
            <a:noFill/>
            <a:ln w="11929" cap="rnd">
              <a:solidFill>
                <a:srgbClr val="2D5477"/>
              </a:solidFill>
              <a:round/>
            </a:ln>
            <a:effectLst/>
          </p:spPr>
          <p:txBody>
            <a:bodyPr rtlCol="0" anchor="ctr"/>
            <a:lstStyle/>
            <a:p>
              <a:endParaRPr lang="en-US" sz="800"/>
            </a:p>
          </p:txBody>
        </p:sp>
        <p:sp>
          <p:nvSpPr>
            <p:cNvPr id="30" name="Antenna ball"/>
            <p:cNvSpPr/>
            <p:nvPr/>
          </p:nvSpPr>
          <p:spPr>
            <a:xfrm>
              <a:off x="765514" y="704088"/>
              <a:ext cx="41741" cy="41741"/>
            </a:xfrm>
            <a:prstGeom prst="ellipse">
              <a:avLst/>
            </a:prstGeom>
            <a:solidFill>
              <a:srgbClr val="9DC4E8"/>
            </a:solidFill>
            <a:ln w="7157" cap="rnd">
              <a:solidFill>
                <a:srgbClr val="2D5477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31" name="Ear"/>
            <p:cNvSpPr/>
            <p:nvPr/>
          </p:nvSpPr>
          <p:spPr>
            <a:xfrm>
              <a:off x="649224" y="841248"/>
              <a:ext cx="29802" cy="83481"/>
            </a:xfrm>
            <a:prstGeom prst="roundRect">
              <a:avLst>
                <a:gd name="adj" fmla="val 40000"/>
              </a:avLst>
            </a:prstGeom>
            <a:solidFill>
              <a:srgbClr val="9DC4E8"/>
            </a:solidFill>
            <a:ln w="7157" cap="rnd">
              <a:solidFill>
                <a:srgbClr val="2D5477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32" name="Ear"/>
            <p:cNvSpPr/>
            <p:nvPr/>
          </p:nvSpPr>
          <p:spPr>
            <a:xfrm>
              <a:off x="893742" y="841248"/>
              <a:ext cx="29802" cy="83481"/>
            </a:xfrm>
            <a:prstGeom prst="roundRect">
              <a:avLst>
                <a:gd name="adj" fmla="val 40000"/>
              </a:avLst>
            </a:prstGeom>
            <a:solidFill>
              <a:srgbClr val="9DC4E8"/>
            </a:solidFill>
            <a:ln w="7157" cap="rnd">
              <a:solidFill>
                <a:srgbClr val="2D5477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33" name="Head"/>
            <p:cNvSpPr/>
            <p:nvPr/>
          </p:nvSpPr>
          <p:spPr>
            <a:xfrm>
              <a:off x="673100" y="781643"/>
              <a:ext cx="226653" cy="196851"/>
            </a:xfrm>
            <a:prstGeom prst="roundRect">
              <a:avLst>
                <a:gd name="adj" fmla="val 27272"/>
              </a:avLst>
            </a:prstGeom>
            <a:solidFill>
              <a:srgbClr val="FFFFFF"/>
            </a:solidFill>
            <a:ln w="9543" cap="rnd">
              <a:solidFill>
                <a:srgbClr val="2D5477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34" name="Visor"/>
            <p:cNvSpPr/>
            <p:nvPr/>
          </p:nvSpPr>
          <p:spPr>
            <a:xfrm>
              <a:off x="702903" y="829310"/>
              <a:ext cx="166962" cy="101431"/>
            </a:xfrm>
            <a:prstGeom prst="roundRect">
              <a:avLst>
                <a:gd name="adj" fmla="val 29411"/>
              </a:avLst>
            </a:prstGeom>
            <a:solidFill>
              <a:srgbClr val="234965"/>
            </a:solidFill>
            <a:ln w="4771" cap="rnd">
              <a:solidFill>
                <a:srgbClr val="2D5477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35" name="Eye"/>
            <p:cNvSpPr/>
            <p:nvPr/>
          </p:nvSpPr>
          <p:spPr>
            <a:xfrm>
              <a:off x="732705" y="859198"/>
              <a:ext cx="26882" cy="268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36" name="Eye"/>
            <p:cNvSpPr/>
            <p:nvPr/>
          </p:nvSpPr>
          <p:spPr>
            <a:xfrm>
              <a:off x="813266" y="859198"/>
              <a:ext cx="26882" cy="268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37" name="Mouth"/>
            <p:cNvSpPr/>
            <p:nvPr/>
          </p:nvSpPr>
          <p:spPr>
            <a:xfrm>
              <a:off x="768520" y="894927"/>
              <a:ext cx="35814" cy="17864"/>
            </a:xfrm>
            <a:custGeom>
              <a:avLst/>
              <a:gdLst/>
              <a:ahLst/>
              <a:cxnLst/>
              <a:rect l="l" t="t" r="r" b="b"/>
              <a:pathLst>
                <a:path w="35814" h="17864" fill="none">
                  <a:moveTo>
                    <a:pt x="0" y="0"/>
                  </a:moveTo>
                  <a:quadBezTo>
                    <a:pt x="17864" y="17864"/>
                    <a:pt x="35814" y="0"/>
                  </a:quadBezTo>
                </a:path>
              </a:pathLst>
            </a:custGeom>
            <a:noFill/>
            <a:ln w="8350" cap="rnd">
              <a:solidFill>
                <a:srgbClr val="C6E0F4"/>
              </a:solidFill>
              <a:round/>
            </a:ln>
            <a:effectLst/>
          </p:spPr>
          <p:txBody>
            <a:bodyPr rtlCol="0" anchor="ctr"/>
            <a:lstStyle/>
            <a:p>
              <a:endParaRPr lang="en-US" sz="800"/>
            </a:p>
          </p:txBody>
        </p:sp>
      </p:grpSp>
      <p:sp>
        <p:nvSpPr>
          <p:cNvPr id="39" name="Policy label"/>
          <p:cNvSpPr txBox="1"/>
          <p:nvPr/>
        </p:nvSpPr>
        <p:spPr>
          <a:xfrm>
            <a:off x="557784" y="1024128"/>
            <a:ext cx="457200" cy="1188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1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LLM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π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Rollouts label"/>
          <p:cNvSpPr txBox="1"/>
          <p:nvPr/>
        </p:nvSpPr>
        <p:spPr>
          <a:xfrm>
            <a:off x="557784" y="1152144"/>
            <a:ext cx="457200" cy="109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00" b="0" i="1" dirty="0">
                <a:solidFill>
                  <a:srgbClr val="6E6D68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lang="en-US" sz="700" b="0" i="0" dirty="0">
                <a:solidFill>
                  <a:srgbClr val="6E6D68"/>
                </a:solidFill>
                <a:latin typeface="Times New Roman"/>
                <a:ea typeface="Times New Roman"/>
                <a:cs typeface="Times New Roman"/>
              </a:rPr>
              <a:t xml:space="preserve"> rollouts</a:t>
            </a: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1" name="Flow arrow"/>
          <p:cNvSpPr/>
          <p:nvPr/>
        </p:nvSpPr>
        <p:spPr>
          <a:xfrm>
            <a:off x="937260" y="914400"/>
            <a:ext cx="109728" cy="91"/>
          </a:xfrm>
          <a:custGeom>
            <a:avLst/>
            <a:gdLst/>
            <a:ahLst/>
            <a:cxnLst/>
            <a:rect l="l" t="t" r="r" b="b"/>
            <a:pathLst>
              <a:path w="109728" h="91" fill="none">
                <a:moveTo>
                  <a:pt x="0" y="0"/>
                </a:moveTo>
                <a:lnTo>
                  <a:pt x="109728" y="0"/>
                </a:lnTo>
              </a:path>
            </a:pathLst>
          </a:custGeom>
          <a:noFill/>
          <a:ln w="10160" cap="rnd">
            <a:solidFill>
              <a:srgbClr val="6E6D68"/>
            </a:solidFill>
            <a:round/>
            <a:tailEnd type="triangle" w="med" len="med"/>
          </a:ln>
          <a:effectLst/>
        </p:spPr>
        <p:txBody>
          <a:bodyPr rtlCol="0" anchor="ctr"/>
          <a:lstStyle/>
          <a:p>
            <a:endParaRPr lang="en-US" sz="800"/>
          </a:p>
        </p:txBody>
      </p:sp>
      <p:sp>
        <p:nvSpPr>
          <p:cNvPr id="42" name="Candidate set"/>
          <p:cNvSpPr/>
          <p:nvPr/>
        </p:nvSpPr>
        <p:spPr>
          <a:xfrm>
            <a:off x="1060704" y="329184"/>
            <a:ext cx="530352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 cap="rnd">
            <a:solidFill>
              <a:srgbClr val="C9C8C2"/>
            </a:solidFill>
            <a:round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Card title"/>
          <p:cNvSpPr txBox="1"/>
          <p:nvPr/>
        </p:nvSpPr>
        <p:spPr>
          <a:xfrm>
            <a:off x="1060704" y="384048"/>
            <a:ext cx="530352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74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1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Candidates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74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0" dirty="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𝒜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4" name="Candidate"/>
          <p:cNvSpPr/>
          <p:nvPr/>
        </p:nvSpPr>
        <p:spPr>
          <a:xfrm>
            <a:off x="1120140" y="649224"/>
            <a:ext cx="411480" cy="13258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 cap="rnd">
            <a:solidFill>
              <a:srgbClr val="2A78D6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Candidate"/>
          <p:cNvSpPr/>
          <p:nvPr/>
        </p:nvSpPr>
        <p:spPr>
          <a:xfrm>
            <a:off x="1120140" y="813816"/>
            <a:ext cx="411480" cy="13258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 cap="rnd">
            <a:solidFill>
              <a:srgbClr val="2A78D6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Candidate"/>
          <p:cNvSpPr/>
          <p:nvPr/>
        </p:nvSpPr>
        <p:spPr>
          <a:xfrm>
            <a:off x="1120140" y="1060704"/>
            <a:ext cx="411480" cy="13258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 cap="rnd">
            <a:solidFill>
              <a:srgbClr val="2A78D6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" name="More candidates"/>
          <p:cNvSpPr txBox="1"/>
          <p:nvPr/>
        </p:nvSpPr>
        <p:spPr>
          <a:xfrm>
            <a:off x="1120140" y="946404"/>
            <a:ext cx="411480" cy="109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0" dirty="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⋮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" name="Divider"/>
          <p:cNvSpPr/>
          <p:nvPr/>
        </p:nvSpPr>
        <p:spPr>
          <a:xfrm>
            <a:off x="1106424" y="1257300"/>
            <a:ext cx="438912" cy="91"/>
          </a:xfrm>
          <a:custGeom>
            <a:avLst/>
            <a:gdLst/>
            <a:ahLst/>
            <a:cxnLst/>
            <a:rect l="l" t="t" r="r" b="b"/>
            <a:pathLst>
              <a:path w="438912" h="91" fill="none">
                <a:moveTo>
                  <a:pt x="0" y="0"/>
                </a:moveTo>
                <a:lnTo>
                  <a:pt x="438912" y="0"/>
                </a:lnTo>
              </a:path>
            </a:pathLst>
          </a:custGeom>
          <a:noFill/>
          <a:ln w="6350" cap="rnd">
            <a:solidFill>
              <a:srgbClr val="C9C8C2"/>
            </a:solidFill>
            <a:prstDash val="sysDash"/>
            <a:round/>
          </a:ln>
          <a:effectLst/>
        </p:spPr>
        <p:txBody>
          <a:bodyPr rtlCol="0" anchor="ctr"/>
          <a:lstStyle/>
          <a:p>
            <a:endParaRPr lang="en-US" sz="800"/>
          </a:p>
        </p:txBody>
      </p:sp>
      <p:sp>
        <p:nvSpPr>
          <p:cNvPr id="49" name="Control answer"/>
          <p:cNvSpPr/>
          <p:nvPr/>
        </p:nvSpPr>
        <p:spPr>
          <a:xfrm>
            <a:off x="1120140" y="1298448"/>
            <a:ext cx="411480" cy="13258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 cap="rnd">
            <a:solidFill>
              <a:srgbClr val="EB6834"/>
            </a:solidFill>
            <a:prstDash val="sysDash"/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>ã</a:t>
            </a:r>
            <a:r>
              <a:rPr lang="en-US" sz="750" b="0" i="0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 xml:space="preserve"> control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0" name="Control note"/>
          <p:cNvSpPr txBox="1"/>
          <p:nvPr/>
        </p:nvSpPr>
        <p:spPr>
          <a:xfrm>
            <a:off x="1060704" y="1440180"/>
            <a:ext cx="530352" cy="109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84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680" b="0" i="0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>known wrong</a:t>
            </a:r>
            <a:r>
              <a:rPr lang="en-US" sz="884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68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1" name="Flow arrow"/>
          <p:cNvSpPr/>
          <p:nvPr/>
        </p:nvSpPr>
        <p:spPr>
          <a:xfrm>
            <a:off x="1600200" y="914400"/>
            <a:ext cx="137160" cy="91"/>
          </a:xfrm>
          <a:custGeom>
            <a:avLst/>
            <a:gdLst/>
            <a:ahLst/>
            <a:cxnLst/>
            <a:rect l="l" t="t" r="r" b="b"/>
            <a:pathLst>
              <a:path w="137160" h="91" fill="none">
                <a:moveTo>
                  <a:pt x="0" y="0"/>
                </a:moveTo>
                <a:lnTo>
                  <a:pt x="137160" y="0"/>
                </a:lnTo>
              </a:path>
            </a:pathLst>
          </a:custGeom>
          <a:noFill/>
          <a:ln w="10160" cap="rnd">
            <a:solidFill>
              <a:srgbClr val="6E6D68"/>
            </a:solidFill>
            <a:round/>
            <a:tailEnd type="triangle" w="med" len="med"/>
          </a:ln>
          <a:effectLst/>
        </p:spPr>
        <p:txBody>
          <a:bodyPr rtlCol="0" anchor="ctr"/>
          <a:lstStyle/>
          <a:p>
            <a:endParaRPr lang="en-US" sz="800"/>
          </a:p>
        </p:txBody>
      </p:sp>
      <p:sp>
        <p:nvSpPr>
          <p:cNvPr id="52" name="Inverse problem"/>
          <p:cNvSpPr/>
          <p:nvPr/>
        </p:nvSpPr>
        <p:spPr>
          <a:xfrm>
            <a:off x="1746504" y="329184"/>
            <a:ext cx="658368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 cap="rnd">
            <a:solidFill>
              <a:srgbClr val="C9C8C2"/>
            </a:solidFill>
            <a:round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Card title"/>
          <p:cNvSpPr txBox="1"/>
          <p:nvPr/>
        </p:nvSpPr>
        <p:spPr>
          <a:xfrm>
            <a:off x="1746504" y="384048"/>
            <a:ext cx="658368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74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1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Inverse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74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1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problem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54" name="Editable problem document"/>
          <p:cNvGrpSpPr/>
          <p:nvPr/>
        </p:nvGrpSpPr>
        <p:grpSpPr>
          <a:xfrm>
            <a:off x="1975104" y="667512"/>
            <a:ext cx="173736" cy="220692"/>
            <a:chOff x="558800" y="1092200"/>
            <a:chExt cx="234950" cy="298450"/>
          </a:xfrm>
        </p:grpSpPr>
        <p:sp>
          <p:nvSpPr>
            <p:cNvPr id="55" name="016 path"/>
            <p:cNvSpPr/>
            <p:nvPr/>
          </p:nvSpPr>
          <p:spPr>
            <a:xfrm>
              <a:off x="558800" y="1092200"/>
              <a:ext cx="234950" cy="298450"/>
            </a:xfrm>
            <a:custGeom>
              <a:avLst/>
              <a:gdLst/>
              <a:ahLst/>
              <a:cxnLst/>
              <a:rect l="l" t="t" r="r" b="b"/>
              <a:pathLst>
                <a:path w="37000" h="47000" fill="norm" stroke="1">
                  <a:moveTo>
                    <a:pt x="0" y="0"/>
                  </a:moveTo>
                  <a:lnTo>
                    <a:pt x="23000" y="0"/>
                  </a:lnTo>
                  <a:lnTo>
                    <a:pt x="37000" y="14000"/>
                  </a:lnTo>
                  <a:lnTo>
                    <a:pt x="37000" y="47000"/>
                  </a:lnTo>
                  <a:lnTo>
                    <a:pt x="0" y="47000"/>
                  </a:lnTo>
                  <a:close/>
                </a:path>
              </a:pathLst>
            </a:custGeom>
            <a:solidFill>
              <a:srgbClr val="FAFCFD"/>
            </a:solidFill>
            <a:ln w="9391">
              <a:solidFill>
                <a:srgbClr val="30516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017 path"/>
            <p:cNvSpPr/>
            <p:nvPr/>
          </p:nvSpPr>
          <p:spPr>
            <a:xfrm>
              <a:off x="704850" y="109220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14000" h="14000" fill="none" stroke="1">
                  <a:moveTo>
                    <a:pt x="0" y="0"/>
                  </a:moveTo>
                  <a:lnTo>
                    <a:pt x="0" y="14000"/>
                  </a:lnTo>
                  <a:lnTo>
                    <a:pt x="14000" y="14000"/>
                  </a:lnTo>
                </a:path>
              </a:pathLst>
            </a:custGeom>
            <a:noFill/>
            <a:ln w="9391">
              <a:solidFill>
                <a:srgbClr val="30516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018 path"/>
            <p:cNvSpPr/>
            <p:nvPr/>
          </p:nvSpPr>
          <p:spPr>
            <a:xfrm>
              <a:off x="603250" y="1231900"/>
              <a:ext cx="139700" cy="63"/>
            </a:xfrm>
            <a:custGeom>
              <a:avLst/>
              <a:gdLst/>
              <a:ahLst/>
              <a:cxnLst/>
              <a:rect l="l" t="t" r="r" b="b"/>
              <a:pathLst>
                <a:path w="22000" h="10" fill="none" stroke="1">
                  <a:moveTo>
                    <a:pt x="0" y="0"/>
                  </a:moveTo>
                  <a:lnTo>
                    <a:pt x="22000" y="0"/>
                  </a:lnTo>
                </a:path>
              </a:pathLst>
            </a:custGeom>
            <a:noFill/>
            <a:ln w="8452">
              <a:solidFill>
                <a:srgbClr val="30516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019 path"/>
            <p:cNvSpPr/>
            <p:nvPr/>
          </p:nvSpPr>
          <p:spPr>
            <a:xfrm>
              <a:off x="603250" y="1276350"/>
              <a:ext cx="139700" cy="63"/>
            </a:xfrm>
            <a:custGeom>
              <a:avLst/>
              <a:gdLst/>
              <a:ahLst/>
              <a:cxnLst/>
              <a:rect l="l" t="t" r="r" b="b"/>
              <a:pathLst>
                <a:path w="22000" h="10" fill="none" stroke="1">
                  <a:moveTo>
                    <a:pt x="0" y="0"/>
                  </a:moveTo>
                  <a:lnTo>
                    <a:pt x="22000" y="0"/>
                  </a:lnTo>
                </a:path>
              </a:pathLst>
            </a:custGeom>
            <a:noFill/>
            <a:ln w="8452">
              <a:solidFill>
                <a:srgbClr val="30516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020 path"/>
            <p:cNvSpPr/>
            <p:nvPr/>
          </p:nvSpPr>
          <p:spPr>
            <a:xfrm>
              <a:off x="603250" y="1320800"/>
              <a:ext cx="139700" cy="63"/>
            </a:xfrm>
            <a:custGeom>
              <a:avLst/>
              <a:gdLst/>
              <a:ahLst/>
              <a:cxnLst/>
              <a:rect l="l" t="t" r="r" b="b"/>
              <a:pathLst>
                <a:path w="22000" h="10" fill="none" stroke="1">
                  <a:moveTo>
                    <a:pt x="0" y="0"/>
                  </a:moveTo>
                  <a:lnTo>
                    <a:pt x="22000" y="0"/>
                  </a:lnTo>
                </a:path>
              </a:pathLst>
            </a:custGeom>
            <a:noFill/>
            <a:ln w="8452">
              <a:solidFill>
                <a:srgbClr val="30516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021 path"/>
            <p:cNvSpPr/>
            <p:nvPr/>
          </p:nvSpPr>
          <p:spPr>
            <a:xfrm>
              <a:off x="603250" y="1187450"/>
              <a:ext cx="57150" cy="63"/>
            </a:xfrm>
            <a:custGeom>
              <a:avLst/>
              <a:gdLst/>
              <a:ahLst/>
              <a:cxnLst/>
              <a:rect l="l" t="t" r="r" b="b"/>
              <a:pathLst>
                <a:path w="9000" h="10" fill="none" stroke="1">
                  <a:moveTo>
                    <a:pt x="0" y="0"/>
                  </a:moveTo>
                  <a:lnTo>
                    <a:pt x="9000" y="0"/>
                  </a:lnTo>
                </a:path>
              </a:pathLst>
            </a:custGeom>
            <a:noFill/>
            <a:ln w="8452">
              <a:solidFill>
                <a:srgbClr val="30516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1" name="Hidden given"/>
          <p:cNvSpPr/>
          <p:nvPr/>
        </p:nvSpPr>
        <p:spPr>
          <a:xfrm>
            <a:off x="2103120" y="822960"/>
            <a:ext cx="118872" cy="118872"/>
          </a:xfrm>
          <a:prstGeom prst="roundRect">
            <a:avLst>
              <a:gd name="adj" fmla="val 20000"/>
            </a:avLst>
          </a:prstGeom>
          <a:solidFill>
            <a:srgbClr val="CDEDE2"/>
          </a:solidFill>
          <a:ln w="6350" cap="rnd">
            <a:solidFill>
              <a:srgbClr val="1BAF7A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0F7A53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2" name="Inverse symbol"/>
          <p:cNvSpPr txBox="1"/>
          <p:nvPr/>
        </p:nvSpPr>
        <p:spPr>
          <a:xfrm>
            <a:off x="1746504" y="960120"/>
            <a:ext cx="658368" cy="1554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7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90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lang="en-US" sz="1170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9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90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lang="en-US" sz="9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, </a:t>
            </a:r>
            <a:r>
              <a:rPr lang="en-US" sz="90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9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lang="en-US" sz="117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9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3" name="Inverse recipe"/>
          <p:cNvSpPr txBox="1"/>
          <p:nvPr/>
        </p:nvSpPr>
        <p:spPr>
          <a:xfrm>
            <a:off x="1746504" y="1170432"/>
            <a:ext cx="658368" cy="4023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76000"/>
              </a:lnSpc>
              <a:spcBef>
                <a:spcPts val="0"/>
              </a:spcBef>
              <a:buNone/>
            </a:pP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hide </a:t>
            </a:r>
            <a:r>
              <a:rPr lang="en-US" sz="70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lang="en-US" sz="910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7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as </a:t>
            </a:r>
            <a:r>
              <a:rPr lang="en-US" sz="70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76000"/>
              </a:lnSpc>
              <a:spcBef>
                <a:spcPts val="0"/>
              </a:spcBef>
              <a:buNone/>
            </a:pP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state </a:t>
            </a:r>
            <a:r>
              <a:rPr lang="en-US" sz="70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7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as answer</a:t>
            </a: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76000"/>
              </a:lnSpc>
              <a:spcBef>
                <a:spcPts val="0"/>
              </a:spcBef>
              <a:buNone/>
            </a:pP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00" b="0" i="0" dirty="0">
                <a:solidFill>
                  <a:srgbClr val="0F7A53"/>
                </a:solidFill>
                <a:latin typeface="Times New Roman"/>
                <a:ea typeface="Times New Roman"/>
                <a:cs typeface="Times New Roman"/>
              </a:rPr>
              <a:t xml:space="preserve">label </a:t>
            </a:r>
            <a:r>
              <a:rPr lang="en-US" sz="700" b="0" i="1" dirty="0">
                <a:solidFill>
                  <a:srgbClr val="0F7A53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lang="en-US" sz="910" b="0" i="1" baseline="-25000" dirty="0">
                <a:solidFill>
                  <a:srgbClr val="0F7A53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700" b="0" i="0" dirty="0">
                <a:solidFill>
                  <a:srgbClr val="0F7A53"/>
                </a:solidFill>
                <a:latin typeface="Times New Roman"/>
                <a:ea typeface="Times New Roman"/>
                <a:cs typeface="Times New Roman"/>
              </a:rPr>
              <a:t>: exact</a:t>
            </a: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4" name="Flow arrow"/>
          <p:cNvSpPr/>
          <p:nvPr/>
        </p:nvSpPr>
        <p:spPr>
          <a:xfrm>
            <a:off x="2418588" y="914400"/>
            <a:ext cx="100584" cy="91"/>
          </a:xfrm>
          <a:custGeom>
            <a:avLst/>
            <a:gdLst/>
            <a:ahLst/>
            <a:cxnLst/>
            <a:rect l="l" t="t" r="r" b="b"/>
            <a:pathLst>
              <a:path w="100584" h="91" fill="none">
                <a:moveTo>
                  <a:pt x="0" y="0"/>
                </a:moveTo>
                <a:lnTo>
                  <a:pt x="100584" y="0"/>
                </a:lnTo>
              </a:path>
            </a:pathLst>
          </a:custGeom>
          <a:noFill/>
          <a:ln w="10160" cap="rnd">
            <a:solidFill>
              <a:srgbClr val="6E6D68"/>
            </a:solidFill>
            <a:round/>
            <a:tailEnd type="triangle" w="med" len="med"/>
          </a:ln>
          <a:effectLst/>
        </p:spPr>
        <p:txBody>
          <a:bodyPr rtlCol="0" anchor="ctr"/>
          <a:lstStyle/>
          <a:p>
            <a:endParaRPr lang="en-US" sz="800"/>
          </a:p>
        </p:txBody>
      </p:sp>
      <p:grpSp>
        <p:nvGrpSpPr>
          <p:cNvPr id="74" name="Same policy"/>
          <p:cNvGrpSpPr/>
          <p:nvPr/>
        </p:nvGrpSpPr>
        <p:grpSpPr>
          <a:xfrm>
            <a:off x="2532888" y="704088"/>
            <a:ext cx="274320" cy="274406"/>
            <a:chOff x="2532888" y="704088"/>
            <a:chExt cx="274320" cy="274406"/>
          </a:xfrm>
        </p:grpSpPr>
        <p:sp>
          <p:nvSpPr>
            <p:cNvPr id="65" name="Antenna"/>
            <p:cNvSpPr/>
            <p:nvPr/>
          </p:nvSpPr>
          <p:spPr>
            <a:xfrm>
              <a:off x="2670048" y="727964"/>
              <a:ext cx="91" cy="59605"/>
            </a:xfrm>
            <a:custGeom>
              <a:avLst/>
              <a:gdLst/>
              <a:ahLst/>
              <a:cxnLst/>
              <a:rect l="l" t="t" r="r" b="b"/>
              <a:pathLst>
                <a:path w="91" h="59605" fill="none">
                  <a:moveTo>
                    <a:pt x="0" y="0"/>
                  </a:moveTo>
                  <a:lnTo>
                    <a:pt x="0" y="59605"/>
                  </a:lnTo>
                </a:path>
              </a:pathLst>
            </a:custGeom>
            <a:noFill/>
            <a:ln w="11929" cap="rnd">
              <a:solidFill>
                <a:srgbClr val="2D5477"/>
              </a:solidFill>
              <a:round/>
            </a:ln>
            <a:effectLst/>
          </p:spPr>
          <p:txBody>
            <a:bodyPr rtlCol="0" anchor="ctr"/>
            <a:lstStyle/>
            <a:p>
              <a:endParaRPr lang="en-US" sz="800"/>
            </a:p>
          </p:txBody>
        </p:sp>
        <p:sp>
          <p:nvSpPr>
            <p:cNvPr id="66" name="Antenna ball"/>
            <p:cNvSpPr/>
            <p:nvPr/>
          </p:nvSpPr>
          <p:spPr>
            <a:xfrm>
              <a:off x="2649178" y="704088"/>
              <a:ext cx="41741" cy="41741"/>
            </a:xfrm>
            <a:prstGeom prst="ellipse">
              <a:avLst/>
            </a:prstGeom>
            <a:solidFill>
              <a:srgbClr val="9DC4E8"/>
            </a:solidFill>
            <a:ln w="7157" cap="rnd">
              <a:solidFill>
                <a:srgbClr val="2D5477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67" name="Ear"/>
            <p:cNvSpPr/>
            <p:nvPr/>
          </p:nvSpPr>
          <p:spPr>
            <a:xfrm>
              <a:off x="2532888" y="841248"/>
              <a:ext cx="29802" cy="83481"/>
            </a:xfrm>
            <a:prstGeom prst="roundRect">
              <a:avLst>
                <a:gd name="adj" fmla="val 40000"/>
              </a:avLst>
            </a:prstGeom>
            <a:solidFill>
              <a:srgbClr val="9DC4E8"/>
            </a:solidFill>
            <a:ln w="7157" cap="rnd">
              <a:solidFill>
                <a:srgbClr val="2D5477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68" name="Ear"/>
            <p:cNvSpPr/>
            <p:nvPr/>
          </p:nvSpPr>
          <p:spPr>
            <a:xfrm>
              <a:off x="2777406" y="841248"/>
              <a:ext cx="29802" cy="83481"/>
            </a:xfrm>
            <a:prstGeom prst="roundRect">
              <a:avLst>
                <a:gd name="adj" fmla="val 40000"/>
              </a:avLst>
            </a:prstGeom>
            <a:solidFill>
              <a:srgbClr val="9DC4E8"/>
            </a:solidFill>
            <a:ln w="7157" cap="rnd">
              <a:solidFill>
                <a:srgbClr val="2D5477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69" name="Head"/>
            <p:cNvSpPr/>
            <p:nvPr/>
          </p:nvSpPr>
          <p:spPr>
            <a:xfrm>
              <a:off x="2556764" y="781643"/>
              <a:ext cx="226653" cy="196851"/>
            </a:xfrm>
            <a:prstGeom prst="roundRect">
              <a:avLst>
                <a:gd name="adj" fmla="val 27272"/>
              </a:avLst>
            </a:prstGeom>
            <a:solidFill>
              <a:srgbClr val="FFFFFF"/>
            </a:solidFill>
            <a:ln w="9543" cap="rnd">
              <a:solidFill>
                <a:srgbClr val="2D5477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70" name="Visor"/>
            <p:cNvSpPr/>
            <p:nvPr/>
          </p:nvSpPr>
          <p:spPr>
            <a:xfrm>
              <a:off x="2586567" y="829310"/>
              <a:ext cx="166962" cy="101431"/>
            </a:xfrm>
            <a:prstGeom prst="roundRect">
              <a:avLst>
                <a:gd name="adj" fmla="val 29411"/>
              </a:avLst>
            </a:prstGeom>
            <a:solidFill>
              <a:srgbClr val="234965"/>
            </a:solidFill>
            <a:ln w="4771" cap="rnd">
              <a:solidFill>
                <a:srgbClr val="2D5477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71" name="Eye"/>
            <p:cNvSpPr/>
            <p:nvPr/>
          </p:nvSpPr>
          <p:spPr>
            <a:xfrm>
              <a:off x="2616369" y="859198"/>
              <a:ext cx="26882" cy="268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72" name="Eye"/>
            <p:cNvSpPr/>
            <p:nvPr/>
          </p:nvSpPr>
          <p:spPr>
            <a:xfrm>
              <a:off x="2696930" y="859198"/>
              <a:ext cx="26882" cy="268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sz="80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73" name="Mouth"/>
            <p:cNvSpPr/>
            <p:nvPr/>
          </p:nvSpPr>
          <p:spPr>
            <a:xfrm>
              <a:off x="2652184" y="894927"/>
              <a:ext cx="35814" cy="17864"/>
            </a:xfrm>
            <a:custGeom>
              <a:avLst/>
              <a:gdLst/>
              <a:ahLst/>
              <a:cxnLst/>
              <a:rect l="l" t="t" r="r" b="b"/>
              <a:pathLst>
                <a:path w="35814" h="17864" fill="none">
                  <a:moveTo>
                    <a:pt x="0" y="0"/>
                  </a:moveTo>
                  <a:quadBezTo>
                    <a:pt x="17864" y="17864"/>
                    <a:pt x="35814" y="0"/>
                  </a:quadBezTo>
                </a:path>
              </a:pathLst>
            </a:custGeom>
            <a:noFill/>
            <a:ln w="8350" cap="rnd">
              <a:solidFill>
                <a:srgbClr val="C6E0F4"/>
              </a:solidFill>
              <a:round/>
            </a:ln>
            <a:effectLst/>
          </p:spPr>
          <p:txBody>
            <a:bodyPr rtlCol="0" anchor="ctr"/>
            <a:lstStyle/>
            <a:p>
              <a:endParaRPr lang="en-US" sz="800"/>
            </a:p>
          </p:txBody>
        </p:sp>
      </p:grpSp>
      <p:sp>
        <p:nvSpPr>
          <p:cNvPr id="75" name="Policy label"/>
          <p:cNvSpPr txBox="1"/>
          <p:nvPr/>
        </p:nvSpPr>
        <p:spPr>
          <a:xfrm>
            <a:off x="2441448" y="1024128"/>
            <a:ext cx="457200" cy="1188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1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same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π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6" name="Rollouts label"/>
          <p:cNvSpPr txBox="1"/>
          <p:nvPr/>
        </p:nvSpPr>
        <p:spPr>
          <a:xfrm>
            <a:off x="2441448" y="1152144"/>
            <a:ext cx="457200" cy="109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00" b="0" i="1" dirty="0">
                <a:solidFill>
                  <a:srgbClr val="6E6D68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lang="en-US" sz="700" b="0" i="0" dirty="0">
                <a:solidFill>
                  <a:srgbClr val="6E6D68"/>
                </a:solidFill>
                <a:latin typeface="Times New Roman"/>
                <a:ea typeface="Times New Roman"/>
                <a:cs typeface="Times New Roman"/>
              </a:rPr>
              <a:t xml:space="preserve"> rollouts</a:t>
            </a:r>
            <a:r>
              <a:rPr lang="en-US" sz="910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7" name="Flow arrow"/>
          <p:cNvSpPr/>
          <p:nvPr/>
        </p:nvSpPr>
        <p:spPr>
          <a:xfrm>
            <a:off x="2820924" y="914400"/>
            <a:ext cx="100584" cy="91"/>
          </a:xfrm>
          <a:custGeom>
            <a:avLst/>
            <a:gdLst/>
            <a:ahLst/>
            <a:cxnLst/>
            <a:rect l="l" t="t" r="r" b="b"/>
            <a:pathLst>
              <a:path w="100584" h="91" fill="none">
                <a:moveTo>
                  <a:pt x="0" y="0"/>
                </a:moveTo>
                <a:lnTo>
                  <a:pt x="100584" y="0"/>
                </a:lnTo>
              </a:path>
            </a:pathLst>
          </a:custGeom>
          <a:noFill/>
          <a:ln w="10160" cap="rnd">
            <a:solidFill>
              <a:srgbClr val="6E6D68"/>
            </a:solidFill>
            <a:round/>
            <a:tailEnd type="triangle" w="med" len="med"/>
          </a:ln>
          <a:effectLst/>
        </p:spPr>
        <p:txBody>
          <a:bodyPr rtlCol="0" anchor="ctr"/>
          <a:lstStyle/>
          <a:p>
            <a:endParaRPr lang="en-US" sz="800"/>
          </a:p>
        </p:txBody>
      </p:sp>
      <p:sp>
        <p:nvSpPr>
          <p:cNvPr id="78" name="Recovery rates"/>
          <p:cNvSpPr/>
          <p:nvPr/>
        </p:nvSpPr>
        <p:spPr>
          <a:xfrm>
            <a:off x="2935224" y="329184"/>
            <a:ext cx="749808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 cap="rnd">
            <a:solidFill>
              <a:srgbClr val="C9C8C2"/>
            </a:solidFill>
            <a:round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9" name="Card title"/>
          <p:cNvSpPr txBox="1"/>
          <p:nvPr/>
        </p:nvSpPr>
        <p:spPr>
          <a:xfrm>
            <a:off x="2935224" y="384048"/>
            <a:ext cx="749808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74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1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Recovery rate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74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ŝ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0" name="Candidate"/>
          <p:cNvSpPr/>
          <p:nvPr/>
        </p:nvSpPr>
        <p:spPr>
          <a:xfrm>
            <a:off x="2990088" y="649224"/>
            <a:ext cx="228600" cy="13258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 cap="rnd">
            <a:solidFill>
              <a:srgbClr val="2A78D6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1" name="Bar track"/>
          <p:cNvSpPr/>
          <p:nvPr/>
        </p:nvSpPr>
        <p:spPr>
          <a:xfrm>
            <a:off x="3264408" y="681228"/>
            <a:ext cx="365760" cy="68580"/>
          </a:xfrm>
          <a:prstGeom prst="rect">
            <a:avLst/>
          </a:prstGeom>
          <a:solidFill>
            <a:srgbClr val="FFFFFF"/>
          </a:solidFill>
          <a:ln w="5080" cap="rnd">
            <a:solidFill>
              <a:srgbClr val="C9C8C2"/>
            </a:solidFill>
            <a:round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2" name="Recovery bar"/>
          <p:cNvSpPr/>
          <p:nvPr/>
        </p:nvSpPr>
        <p:spPr>
          <a:xfrm>
            <a:off x="3264408" y="681228"/>
            <a:ext cx="285293" cy="685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3" name="Candidate"/>
          <p:cNvSpPr/>
          <p:nvPr/>
        </p:nvSpPr>
        <p:spPr>
          <a:xfrm>
            <a:off x="2990088" y="813816"/>
            <a:ext cx="228600" cy="13258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 cap="rnd">
            <a:solidFill>
              <a:srgbClr val="2A78D6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4" name="Bar track"/>
          <p:cNvSpPr/>
          <p:nvPr/>
        </p:nvSpPr>
        <p:spPr>
          <a:xfrm>
            <a:off x="3264408" y="845820"/>
            <a:ext cx="365760" cy="68580"/>
          </a:xfrm>
          <a:prstGeom prst="rect">
            <a:avLst/>
          </a:prstGeom>
          <a:solidFill>
            <a:srgbClr val="FFFFFF"/>
          </a:solidFill>
          <a:ln w="5080" cap="rnd">
            <a:solidFill>
              <a:srgbClr val="C9C8C2"/>
            </a:solidFill>
            <a:round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5" name="Recovery bar"/>
          <p:cNvSpPr/>
          <p:nvPr/>
        </p:nvSpPr>
        <p:spPr>
          <a:xfrm>
            <a:off x="3264408" y="845820"/>
            <a:ext cx="95098" cy="685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6" name="Candidate"/>
          <p:cNvSpPr/>
          <p:nvPr/>
        </p:nvSpPr>
        <p:spPr>
          <a:xfrm>
            <a:off x="2990088" y="1060704"/>
            <a:ext cx="228600" cy="13258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 cap="rnd">
            <a:solidFill>
              <a:srgbClr val="2A78D6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7" name="Bar track"/>
          <p:cNvSpPr/>
          <p:nvPr/>
        </p:nvSpPr>
        <p:spPr>
          <a:xfrm>
            <a:off x="3264408" y="1092708"/>
            <a:ext cx="365760" cy="68580"/>
          </a:xfrm>
          <a:prstGeom prst="rect">
            <a:avLst/>
          </a:prstGeom>
          <a:solidFill>
            <a:srgbClr val="FFFFFF"/>
          </a:solidFill>
          <a:ln w="5080" cap="rnd">
            <a:solidFill>
              <a:srgbClr val="C9C8C2"/>
            </a:solidFill>
            <a:round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8" name="Recovery bar"/>
          <p:cNvSpPr/>
          <p:nvPr/>
        </p:nvSpPr>
        <p:spPr>
          <a:xfrm>
            <a:off x="3264408" y="1092708"/>
            <a:ext cx="65837" cy="685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9" name="More rows"/>
          <p:cNvSpPr txBox="1"/>
          <p:nvPr/>
        </p:nvSpPr>
        <p:spPr>
          <a:xfrm>
            <a:off x="2990088" y="946404"/>
            <a:ext cx="228600" cy="109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0" dirty="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⋮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0" name="Divider"/>
          <p:cNvSpPr/>
          <p:nvPr/>
        </p:nvSpPr>
        <p:spPr>
          <a:xfrm>
            <a:off x="2980944" y="1257300"/>
            <a:ext cx="658368" cy="91"/>
          </a:xfrm>
          <a:custGeom>
            <a:avLst/>
            <a:gdLst/>
            <a:ahLst/>
            <a:cxnLst/>
            <a:rect l="l" t="t" r="r" b="b"/>
            <a:pathLst>
              <a:path w="658368" h="91" fill="none">
                <a:moveTo>
                  <a:pt x="0" y="0"/>
                </a:moveTo>
                <a:lnTo>
                  <a:pt x="658368" y="0"/>
                </a:lnTo>
              </a:path>
            </a:pathLst>
          </a:custGeom>
          <a:noFill/>
          <a:ln w="6350" cap="rnd">
            <a:solidFill>
              <a:srgbClr val="C9C8C2"/>
            </a:solidFill>
            <a:prstDash val="sysDash"/>
            <a:round/>
          </a:ln>
          <a:effectLst/>
        </p:spPr>
        <p:txBody>
          <a:bodyPr rtlCol="0" anchor="ctr"/>
          <a:lstStyle/>
          <a:p>
            <a:endParaRPr lang="en-US" sz="800"/>
          </a:p>
        </p:txBody>
      </p:sp>
      <p:sp>
        <p:nvSpPr>
          <p:cNvPr id="91" name="Control answer"/>
          <p:cNvSpPr/>
          <p:nvPr/>
        </p:nvSpPr>
        <p:spPr>
          <a:xfrm>
            <a:off x="2990088" y="1298448"/>
            <a:ext cx="228600" cy="13258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 cap="rnd">
            <a:solidFill>
              <a:srgbClr val="EB6834"/>
            </a:solidFill>
            <a:prstDash val="sysDash"/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>ã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2" name="Bar track"/>
          <p:cNvSpPr/>
          <p:nvPr/>
        </p:nvSpPr>
        <p:spPr>
          <a:xfrm>
            <a:off x="3264408" y="1330452"/>
            <a:ext cx="365760" cy="68580"/>
          </a:xfrm>
          <a:prstGeom prst="rect">
            <a:avLst/>
          </a:prstGeom>
          <a:solidFill>
            <a:srgbClr val="FFFFFF"/>
          </a:solidFill>
          <a:ln w="5080" cap="rnd">
            <a:solidFill>
              <a:srgbClr val="C9C8C2"/>
            </a:solidFill>
            <a:round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3" name="Recovery bar"/>
          <p:cNvSpPr/>
          <p:nvPr/>
        </p:nvSpPr>
        <p:spPr>
          <a:xfrm>
            <a:off x="3264408" y="1330452"/>
            <a:ext cx="36576" cy="685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4" name="Anchor score"/>
          <p:cNvSpPr txBox="1"/>
          <p:nvPr/>
        </p:nvSpPr>
        <p:spPr>
          <a:xfrm>
            <a:off x="2935224" y="1440180"/>
            <a:ext cx="749808" cy="109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84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68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anchor score </a:t>
            </a:r>
            <a:r>
              <a:rPr lang="en-US" sz="68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lang="en-US" sz="68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68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68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lang="en-US" sz="884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68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5" name="Forward RL box"/>
          <p:cNvSpPr/>
          <p:nvPr/>
        </p:nvSpPr>
        <p:spPr>
          <a:xfrm>
            <a:off x="3840480" y="329184"/>
            <a:ext cx="1865376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 cap="rnd">
            <a:solidFill>
              <a:srgbClr val="2A78D6"/>
            </a:solidFill>
            <a:round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6" name="Forward RL text"/>
          <p:cNvSpPr txBox="1"/>
          <p:nvPr/>
        </p:nvSpPr>
        <p:spPr>
          <a:xfrm>
            <a:off x="3904488" y="347472"/>
            <a:ext cx="175564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750" b="1" i="0" dirty="0">
                <a:solidFill>
                  <a:srgbClr val="1C5CAB"/>
                </a:solidFill>
                <a:latin typeface="Times New Roman"/>
                <a:ea typeface="Times New Roman"/>
                <a:cs typeface="Times New Roman"/>
              </a:rPr>
              <a:t>Forward RL (GRPO)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 </a:t>
            </a:r>
            <a:r>
              <a:rPr lang="en-US" sz="750" b="0" i="0" dirty="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→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 </a:t>
            </a:r>
            <a:r>
              <a:rPr lang="en-US" sz="750" b="0" i="0" spc="-200" dirty="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𝒥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fwd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maximize the recovery rate as reward: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=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)), 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) = </a:t>
            </a:r>
            <a:r>
              <a:rPr lang="en-US" sz="850" b="0" i="0" dirty="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∑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ŝ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) / </a:t>
            </a:r>
            <a:r>
              <a:rPr lang="en-US" sz="850" b="0" i="0" dirty="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∑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7" name="Gated inverse RL box"/>
          <p:cNvSpPr/>
          <p:nvPr/>
        </p:nvSpPr>
        <p:spPr>
          <a:xfrm>
            <a:off x="3840480" y="868680"/>
            <a:ext cx="1865376" cy="57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 cap="rnd">
            <a:solidFill>
              <a:srgbClr val="1BAF7A"/>
            </a:solidFill>
            <a:round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8" name="Gated inverse RL text"/>
          <p:cNvSpPr txBox="1"/>
          <p:nvPr/>
        </p:nvSpPr>
        <p:spPr>
          <a:xfrm>
            <a:off x="3904488" y="886968"/>
            <a:ext cx="1755648" cy="5394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750" b="1" i="0" dirty="0">
                <a:solidFill>
                  <a:srgbClr val="0F7A53"/>
                </a:solidFill>
                <a:latin typeface="Times New Roman"/>
                <a:ea typeface="Times New Roman"/>
                <a:cs typeface="Times New Roman"/>
              </a:rPr>
              <a:t>Gated inverse RL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 </a:t>
            </a:r>
            <a:r>
              <a:rPr lang="en-US" sz="750" b="0" i="0" dirty="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→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 </a:t>
            </a:r>
            <a:r>
              <a:rPr lang="en-US" sz="750" b="0" i="0" spc="-200" dirty="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𝒥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inv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train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,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â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) with exact labels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if the leader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â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beats the control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ã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â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) = avg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ŝ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â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) </a:t>
            </a:r>
            <a:r>
              <a:rPr lang="en-US" sz="750" b="0" i="0" dirty="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−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ŝ</a:t>
            </a:r>
            <a:r>
              <a:rPr lang="en-US" sz="975" b="0" i="1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ã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)] </a:t>
            </a:r>
            <a:r>
              <a:rPr lang="en-US" sz="750" b="0" i="0" dirty="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≥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9" name="Joint objective"/>
          <p:cNvSpPr/>
          <p:nvPr/>
        </p:nvSpPr>
        <p:spPr>
          <a:xfrm>
            <a:off x="3840480" y="1481328"/>
            <a:ext cx="1865376" cy="146304"/>
          </a:xfrm>
          <a:prstGeom prst="roundRect">
            <a:avLst>
              <a:gd name="adj" fmla="val 30000"/>
            </a:avLst>
          </a:prstGeom>
          <a:solidFill>
            <a:srgbClr val="2B2B2B"/>
          </a:solidFill>
          <a:ln>
            <a:noFill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Joint, label-free:</a:t>
            </a:r>
            <a:r>
              <a:rPr lang="en-US" sz="750" b="0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  </a:t>
            </a:r>
            <a:r>
              <a:rPr lang="en-US" sz="750" b="0" i="0" dirty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𝒥</a:t>
            </a:r>
            <a:r>
              <a:rPr lang="en-US" sz="750" b="0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 = </a:t>
            </a:r>
            <a:r>
              <a:rPr lang="en-US" sz="750" b="0" i="0" spc="-200" dirty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𝒥</a:t>
            </a:r>
            <a:r>
              <a:rPr lang="en-US" sz="975" b="0" i="0" baseline="-25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fwd</a:t>
            </a:r>
            <a:r>
              <a:rPr lang="en-US" sz="750" b="0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 + </a:t>
            </a:r>
            <a:r>
              <a:rPr lang="en-US" sz="750" b="0" i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λ</a:t>
            </a:r>
            <a:r>
              <a:rPr lang="en-US" sz="750" b="0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50" b="0" i="0" spc="-200" dirty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𝒥</a:t>
            </a:r>
            <a:r>
              <a:rPr lang="en-US" sz="975" b="0" i="0" baseline="-25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inv</a:t>
            </a:r>
            <a:r>
              <a:rPr lang="en-US" sz="975" b="0" i="0" baseline="-2500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102" name="Fork: recovery rates feed both objectives"/>
          <p:cNvGrpSpPr/>
          <p:nvPr/>
        </p:nvGrpSpPr>
        <p:grpSpPr>
          <a:xfrm>
            <a:off x="3685032" y="576072"/>
            <a:ext cx="150876" cy="580644"/>
            <a:chOff x="3685032" y="576072"/>
            <a:chExt cx="150876" cy="580644"/>
          </a:xfrm>
        </p:grpSpPr>
        <p:sp>
          <p:nvSpPr>
            <p:cNvPr id="100" name="Recovery rates to forward reward"/>
            <p:cNvSpPr/>
            <p:nvPr/>
          </p:nvSpPr>
          <p:spPr>
            <a:xfrm>
              <a:off x="3685032" y="576072"/>
              <a:ext cx="150876" cy="402336"/>
            </a:xfrm>
            <a:custGeom>
              <a:avLst/>
              <a:gdLst/>
              <a:ahLst/>
              <a:cxnLst/>
              <a:rect l="l" t="t" r="r" b="b"/>
              <a:pathLst>
                <a:path w="150876" h="402336" fill="none">
                  <a:moveTo>
                    <a:pt x="0" y="402336"/>
                  </a:moveTo>
                  <a:lnTo>
                    <a:pt x="68580" y="402336"/>
                  </a:lnTo>
                  <a:lnTo>
                    <a:pt x="68580" y="0"/>
                  </a:lnTo>
                  <a:lnTo>
                    <a:pt x="150876" y="0"/>
                  </a:lnTo>
                </a:path>
              </a:pathLst>
            </a:custGeom>
            <a:noFill/>
            <a:ln w="10160" cap="rnd">
              <a:solidFill>
                <a:srgbClr val="6E6D68"/>
              </a:solidFill>
              <a:round/>
              <a:tailEnd type="triangle" w="med" len="med"/>
            </a:ln>
            <a:effectLst/>
          </p:spPr>
          <p:txBody>
            <a:bodyPr rtlCol="0" anchor="ctr"/>
            <a:lstStyle/>
            <a:p>
              <a:endParaRPr lang="en-US" sz="800"/>
            </a:p>
          </p:txBody>
        </p:sp>
        <p:sp>
          <p:nvSpPr>
            <p:cNvPr id="101" name="Recovery rates to gated inverse RL"/>
            <p:cNvSpPr/>
            <p:nvPr/>
          </p:nvSpPr>
          <p:spPr>
            <a:xfrm>
              <a:off x="3685032" y="978408"/>
              <a:ext cx="150876" cy="178308"/>
            </a:xfrm>
            <a:custGeom>
              <a:avLst/>
              <a:gdLst/>
              <a:ahLst/>
              <a:cxnLst/>
              <a:rect l="l" t="t" r="r" b="b"/>
              <a:pathLst>
                <a:path w="150876" h="178308" fill="none">
                  <a:moveTo>
                    <a:pt x="0" y="0"/>
                  </a:moveTo>
                  <a:lnTo>
                    <a:pt x="68580" y="0"/>
                  </a:lnTo>
                  <a:lnTo>
                    <a:pt x="68580" y="178308"/>
                  </a:lnTo>
                  <a:lnTo>
                    <a:pt x="150876" y="178308"/>
                  </a:lnTo>
                </a:path>
              </a:pathLst>
            </a:custGeom>
            <a:noFill/>
            <a:ln w="10160" cap="rnd">
              <a:solidFill>
                <a:srgbClr val="6E6D68"/>
              </a:solidFill>
              <a:round/>
              <a:tailEnd type="triangle" w="med" len="med"/>
            </a:ln>
            <a:effectLst/>
          </p:spPr>
          <p:txBody>
            <a:bodyPr rtlCol="0" anchor="ctr"/>
            <a:lstStyle/>
            <a:p>
              <a:endParaRPr lang="en-US" sz="8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