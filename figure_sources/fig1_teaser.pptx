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70632" cy="225856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 (a) background"/>
          <p:cNvSpPr/>
          <p:nvPr/>
        </p:nvSpPr>
        <p:spPr>
          <a:xfrm>
            <a:off x="0" y="0"/>
            <a:ext cx="2770632" cy="1298448"/>
          </a:xfrm>
          <a:prstGeom prst="roundRect">
            <a:avLst>
              <a:gd name="adj" fmla="val 44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anel (a) title"/>
          <p:cNvSpPr txBox="1"/>
          <p:nvPr/>
        </p:nvSpPr>
        <p:spPr>
          <a:xfrm>
            <a:off x="64008" y="41148"/>
            <a:ext cx="2651760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(a) Problems come with verifiable givens</a:t>
            </a:r>
            <a:endParaRPr lang="en-US" sz="8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roblem text"/>
          <p:cNvSpPr/>
          <p:nvPr/>
        </p:nvSpPr>
        <p:spPr>
          <a:xfrm>
            <a:off x="64008" y="214884"/>
            <a:ext cx="1280160" cy="571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 cap="rnd">
            <a:solidFill>
              <a:srgbClr val="C9C8C2"/>
            </a:solidFill>
            <a:round/>
          </a:ln>
          <a:effectLst/>
        </p:spPr>
        <p:txBody>
          <a:bodyPr wrap="square" lIns="54864" tIns="27432" rIns="45720" bIns="27432" anchor="ctr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Maya buys </a:t>
            </a:r>
            <a:r>
              <a:rPr lang="en-US" sz="750" b="0" i="0" dirty="0">
                <a:solidFill>
                  <a:srgbClr val="2B2B2B"/>
                </a:solidFill>
                <a:highlight>
                  <a:srgbClr val="CDEDE2"/>
                </a:highlight>
                <a:latin typeface="Times New Roman"/>
                <a:ea typeface="Times New Roman"/>
                <a:cs typeface="Times New Roman"/>
              </a:rPr>
              <a:t>7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pens at </a:t>
            </a:r>
            <a:r>
              <a:rPr lang="en-US" sz="750" b="0" i="0" dirty="0">
                <a:solidFill>
                  <a:srgbClr val="2B2B2B"/>
                </a:solidFill>
                <a:highlight>
                  <a:srgbClr val="CDEDE2"/>
                </a:highlight>
                <a:latin typeface="Times New Roman"/>
                <a:ea typeface="Times New Roman"/>
                <a:cs typeface="Times New Roman"/>
              </a:rPr>
              <a:t>$3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each, pays with a </a:t>
            </a:r>
            <a:r>
              <a:rPr lang="en-US" sz="750" b="0" i="0" dirty="0">
                <a:solidFill>
                  <a:srgbClr val="2B2B2B"/>
                </a:solidFill>
                <a:highlight>
                  <a:srgbClr val="CDEDE2"/>
                </a:highlight>
                <a:latin typeface="Times New Roman"/>
                <a:ea typeface="Times New Roman"/>
                <a:cs typeface="Times New Roman"/>
              </a:rPr>
              <a:t>$50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bill, and asks for her change. How much </a:t>
            </a:r>
            <a:r>
              <a:rPr lang="en-US" sz="750" b="0" i="0" dirty="0">
                <a:solidFill>
                  <a:srgbClr val="2B2B2B"/>
                </a:solidFill>
                <a:highlight>
                  <a:srgbClr val="D9E7F8"/>
                </a:highlight>
                <a:latin typeface="Times New Roman"/>
                <a:ea typeface="Times New Roman"/>
                <a:cs typeface="Times New Roman"/>
              </a:rPr>
              <a:t>change</a:t>
            </a:r>
            <a:r>
              <a: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 does she get?</a:t>
            </a:r>
            <a:endParaRPr lang="en-US" sz="7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3" name="Icon: 7 pens"/>
          <p:cNvGrpSpPr/>
          <p:nvPr/>
        </p:nvGrpSpPr>
        <p:grpSpPr>
          <a:xfrm>
            <a:off x="1441094" y="370332"/>
            <a:ext cx="265177" cy="265614"/>
            <a:chOff x="1441094" y="370332"/>
            <a:chExt cx="265177" cy="265614"/>
          </a:xfrm>
        </p:grpSpPr>
        <p:grpSp>
          <p:nvGrpSpPr>
            <p:cNvPr id="5" name="Native pen icon"/>
            <p:cNvGrpSpPr/>
            <p:nvPr/>
          </p:nvGrpSpPr>
          <p:grpSpPr>
            <a:xfrm>
              <a:off x="1441094" y="370332"/>
              <a:ext cx="84125" cy="265614"/>
              <a:chOff x="2380996" y="425450"/>
              <a:chExt cx="122681" cy="387350"/>
            </a:xfrm>
          </p:grpSpPr>
          <p:sp>
            <p:nvSpPr>
              <p:cNvPr id="6" name="020 Pen component"/>
              <p:cNvSpPr/>
              <p:nvPr/>
            </p:nvSpPr>
            <p:spPr>
              <a:xfrm>
                <a:off x="2381250" y="755650"/>
                <a:ext cx="35051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9000" fill="norm" stroke="1">
                    <a:moveTo>
                      <a:pt x="520" y="0"/>
                    </a:moveTo>
                    <a:lnTo>
                      <a:pt x="0" y="9000"/>
                    </a:lnTo>
                    <a:lnTo>
                      <a:pt x="5520" y="0"/>
                    </a:lnTo>
                    <a:close/>
                  </a:path>
                </a:pathLst>
              </a:custGeom>
              <a:solidFill>
                <a:srgbClr val="BDCBD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021 Pen component"/>
              <p:cNvSpPr/>
              <p:nvPr/>
            </p:nvSpPr>
            <p:spPr>
              <a:xfrm>
                <a:off x="2386330" y="450850"/>
                <a:ext cx="108203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47000" fill="norm" stroke="1">
                    <a:moveTo>
                      <a:pt x="12040" y="4000"/>
                    </a:moveTo>
                    <a:quadBezTo>
                      <a:pt x="15160" y="0"/>
                      <a:pt x="17040" y="4000"/>
                    </a:quadBezTo>
                    <a:lnTo>
                      <a:pt x="5000" y="47000"/>
                    </a:lnTo>
                    <a:lnTo>
                      <a:pt x="0" y="47000"/>
                    </a:lnTo>
                    <a:close/>
                  </a:path>
                </a:pathLst>
              </a:custGeom>
              <a:solidFill>
                <a:srgbClr val="9CB3C7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022 Pen component"/>
              <p:cNvSpPr/>
              <p:nvPr/>
            </p:nvSpPr>
            <p:spPr>
              <a:xfrm>
                <a:off x="2380996" y="622300"/>
                <a:ext cx="72643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23000" fill="norm" stroke="1">
                    <a:moveTo>
                      <a:pt x="6440" y="0"/>
                    </a:moveTo>
                    <a:lnTo>
                      <a:pt x="11440" y="0"/>
                    </a:lnTo>
                    <a:lnTo>
                      <a:pt x="5840" y="20000"/>
                    </a:lnTo>
                    <a:lnTo>
                      <a:pt x="0" y="23000"/>
                    </a:lnTo>
                    <a:close/>
                  </a:path>
                </a:pathLst>
              </a:custGeom>
              <a:solidFill>
                <a:srgbClr val="5F7D9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023 Pen component"/>
              <p:cNvSpPr/>
              <p:nvPr/>
            </p:nvSpPr>
            <p:spPr>
              <a:xfrm>
                <a:off x="2474468" y="425450"/>
                <a:ext cx="24383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839" h="5000" fill="norm" stroke="1">
                    <a:moveTo>
                      <a:pt x="0" y="5000"/>
                    </a:moveTo>
                    <a:lnTo>
                      <a:pt x="840" y="2000"/>
                    </a:lnTo>
                    <a:quadBezTo>
                      <a:pt x="3400" y="0"/>
                      <a:pt x="3840" y="2000"/>
                    </a:quadBezTo>
                    <a:lnTo>
                      <a:pt x="3000" y="5000"/>
                    </a:lnTo>
                    <a:close/>
                  </a:path>
                </a:pathLst>
              </a:custGeom>
              <a:solidFill>
                <a:srgbClr val="B6C4CD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024 Pen component"/>
              <p:cNvSpPr/>
              <p:nvPr/>
            </p:nvSpPr>
            <p:spPr>
              <a:xfrm>
                <a:off x="2431796" y="495300"/>
                <a:ext cx="32004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040" h="18000" fill="none" stroke="1">
                    <a:moveTo>
                      <a:pt x="5040" y="0"/>
                    </a:moveTo>
                    <a:lnTo>
                      <a:pt x="0" y="18000"/>
                    </a:lnTo>
                  </a:path>
                </a:pathLst>
              </a:custGeom>
              <a:noFill/>
              <a:ln w="3048">
                <a:solidFill>
                  <a:srgbClr val="E0EBF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025 Pen component"/>
              <p:cNvSpPr/>
              <p:nvPr/>
            </p:nvSpPr>
            <p:spPr>
              <a:xfrm>
                <a:off x="2473452" y="488950"/>
                <a:ext cx="302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17000" fill="none" stroke="1">
                    <a:moveTo>
                      <a:pt x="3760" y="0"/>
                    </a:moveTo>
                    <a:lnTo>
                      <a:pt x="4760" y="0"/>
                    </a:lnTo>
                    <a:lnTo>
                      <a:pt x="0" y="17000"/>
                    </a:lnTo>
                  </a:path>
                </a:pathLst>
              </a:custGeom>
              <a:noFill/>
              <a:ln w="4354">
                <a:solidFill>
                  <a:srgbClr val="687E8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2" name="Native pen icon"/>
            <p:cNvGrpSpPr/>
            <p:nvPr/>
          </p:nvGrpSpPr>
          <p:grpSpPr>
            <a:xfrm>
              <a:off x="1501445" y="370332"/>
              <a:ext cx="84125" cy="265614"/>
              <a:chOff x="2469896" y="425450"/>
              <a:chExt cx="122681" cy="387350"/>
            </a:xfrm>
          </p:grpSpPr>
          <p:sp>
            <p:nvSpPr>
              <p:cNvPr id="13" name="026 Pen component"/>
              <p:cNvSpPr/>
              <p:nvPr/>
            </p:nvSpPr>
            <p:spPr>
              <a:xfrm>
                <a:off x="2470150" y="755650"/>
                <a:ext cx="35051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9000" fill="norm" stroke="1">
                    <a:moveTo>
                      <a:pt x="520" y="0"/>
                    </a:moveTo>
                    <a:lnTo>
                      <a:pt x="0" y="9000"/>
                    </a:lnTo>
                    <a:lnTo>
                      <a:pt x="5520" y="0"/>
                    </a:lnTo>
                    <a:close/>
                  </a:path>
                </a:pathLst>
              </a:custGeom>
              <a:solidFill>
                <a:srgbClr val="BDCBD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027 Pen component"/>
              <p:cNvSpPr/>
              <p:nvPr/>
            </p:nvSpPr>
            <p:spPr>
              <a:xfrm>
                <a:off x="2475230" y="450850"/>
                <a:ext cx="108203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47000" fill="norm" stroke="1">
                    <a:moveTo>
                      <a:pt x="12040" y="4000"/>
                    </a:moveTo>
                    <a:quadBezTo>
                      <a:pt x="15160" y="0"/>
                      <a:pt x="17040" y="4000"/>
                    </a:quadBezTo>
                    <a:lnTo>
                      <a:pt x="5000" y="47000"/>
                    </a:lnTo>
                    <a:lnTo>
                      <a:pt x="0" y="47000"/>
                    </a:lnTo>
                    <a:close/>
                  </a:path>
                </a:pathLst>
              </a:custGeom>
              <a:solidFill>
                <a:srgbClr val="9CB3C7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028 Pen component"/>
              <p:cNvSpPr/>
              <p:nvPr/>
            </p:nvSpPr>
            <p:spPr>
              <a:xfrm>
                <a:off x="2469896" y="622300"/>
                <a:ext cx="72643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23000" fill="norm" stroke="1">
                    <a:moveTo>
                      <a:pt x="6440" y="0"/>
                    </a:moveTo>
                    <a:lnTo>
                      <a:pt x="11440" y="0"/>
                    </a:lnTo>
                    <a:lnTo>
                      <a:pt x="5840" y="20000"/>
                    </a:lnTo>
                    <a:lnTo>
                      <a:pt x="0" y="23000"/>
                    </a:lnTo>
                    <a:close/>
                  </a:path>
                </a:pathLst>
              </a:custGeom>
              <a:solidFill>
                <a:srgbClr val="5F7D9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029 Pen component"/>
              <p:cNvSpPr/>
              <p:nvPr/>
            </p:nvSpPr>
            <p:spPr>
              <a:xfrm>
                <a:off x="2563368" y="425450"/>
                <a:ext cx="24383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839" h="5000" fill="norm" stroke="1">
                    <a:moveTo>
                      <a:pt x="0" y="5000"/>
                    </a:moveTo>
                    <a:lnTo>
                      <a:pt x="840" y="2000"/>
                    </a:lnTo>
                    <a:quadBezTo>
                      <a:pt x="3400" y="0"/>
                      <a:pt x="3840" y="2000"/>
                    </a:quadBezTo>
                    <a:lnTo>
                      <a:pt x="3000" y="5000"/>
                    </a:lnTo>
                    <a:close/>
                  </a:path>
                </a:pathLst>
              </a:custGeom>
              <a:solidFill>
                <a:srgbClr val="B6C4CD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030 Pen component"/>
              <p:cNvSpPr/>
              <p:nvPr/>
            </p:nvSpPr>
            <p:spPr>
              <a:xfrm>
                <a:off x="2520696" y="495300"/>
                <a:ext cx="32004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040" h="18000" fill="none" stroke="1">
                    <a:moveTo>
                      <a:pt x="5040" y="0"/>
                    </a:moveTo>
                    <a:lnTo>
                      <a:pt x="0" y="18000"/>
                    </a:lnTo>
                  </a:path>
                </a:pathLst>
              </a:custGeom>
              <a:noFill/>
              <a:ln w="3048">
                <a:solidFill>
                  <a:srgbClr val="E0EBF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031 Pen component"/>
              <p:cNvSpPr/>
              <p:nvPr/>
            </p:nvSpPr>
            <p:spPr>
              <a:xfrm>
                <a:off x="2562352" y="488950"/>
                <a:ext cx="302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17000" fill="none" stroke="1">
                    <a:moveTo>
                      <a:pt x="3760" y="0"/>
                    </a:moveTo>
                    <a:lnTo>
                      <a:pt x="4760" y="0"/>
                    </a:lnTo>
                    <a:lnTo>
                      <a:pt x="0" y="17000"/>
                    </a:lnTo>
                  </a:path>
                </a:pathLst>
              </a:custGeom>
              <a:noFill/>
              <a:ln w="4354">
                <a:solidFill>
                  <a:srgbClr val="687E8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" name="Native pen icon"/>
            <p:cNvGrpSpPr/>
            <p:nvPr/>
          </p:nvGrpSpPr>
          <p:grpSpPr>
            <a:xfrm>
              <a:off x="1561795" y="370332"/>
              <a:ext cx="84125" cy="265614"/>
              <a:chOff x="2558796" y="425450"/>
              <a:chExt cx="122681" cy="387350"/>
            </a:xfrm>
          </p:grpSpPr>
          <p:sp>
            <p:nvSpPr>
              <p:cNvPr id="20" name="032 Pen component"/>
              <p:cNvSpPr/>
              <p:nvPr/>
            </p:nvSpPr>
            <p:spPr>
              <a:xfrm>
                <a:off x="2559050" y="755650"/>
                <a:ext cx="35051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9000" fill="norm" stroke="1">
                    <a:moveTo>
                      <a:pt x="520" y="0"/>
                    </a:moveTo>
                    <a:lnTo>
                      <a:pt x="0" y="9000"/>
                    </a:lnTo>
                    <a:lnTo>
                      <a:pt x="5520" y="0"/>
                    </a:lnTo>
                    <a:close/>
                  </a:path>
                </a:pathLst>
              </a:custGeom>
              <a:solidFill>
                <a:srgbClr val="BDCBD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033 Pen component"/>
              <p:cNvSpPr/>
              <p:nvPr/>
            </p:nvSpPr>
            <p:spPr>
              <a:xfrm>
                <a:off x="2564130" y="450850"/>
                <a:ext cx="108203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47000" fill="norm" stroke="1">
                    <a:moveTo>
                      <a:pt x="12040" y="4000"/>
                    </a:moveTo>
                    <a:quadBezTo>
                      <a:pt x="15160" y="0"/>
                      <a:pt x="17040" y="4000"/>
                    </a:quadBezTo>
                    <a:lnTo>
                      <a:pt x="5000" y="47000"/>
                    </a:lnTo>
                    <a:lnTo>
                      <a:pt x="0" y="47000"/>
                    </a:lnTo>
                    <a:close/>
                  </a:path>
                </a:pathLst>
              </a:custGeom>
              <a:solidFill>
                <a:srgbClr val="9CB3C7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034 Pen component"/>
              <p:cNvSpPr/>
              <p:nvPr/>
            </p:nvSpPr>
            <p:spPr>
              <a:xfrm>
                <a:off x="2558796" y="622300"/>
                <a:ext cx="72643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23000" fill="norm" stroke="1">
                    <a:moveTo>
                      <a:pt x="6440" y="0"/>
                    </a:moveTo>
                    <a:lnTo>
                      <a:pt x="11440" y="0"/>
                    </a:lnTo>
                    <a:lnTo>
                      <a:pt x="5840" y="20000"/>
                    </a:lnTo>
                    <a:lnTo>
                      <a:pt x="0" y="23000"/>
                    </a:lnTo>
                    <a:close/>
                  </a:path>
                </a:pathLst>
              </a:custGeom>
              <a:solidFill>
                <a:srgbClr val="5F7D9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035 Pen component"/>
              <p:cNvSpPr/>
              <p:nvPr/>
            </p:nvSpPr>
            <p:spPr>
              <a:xfrm>
                <a:off x="2652268" y="425450"/>
                <a:ext cx="24383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839" h="5000" fill="norm" stroke="1">
                    <a:moveTo>
                      <a:pt x="0" y="5000"/>
                    </a:moveTo>
                    <a:lnTo>
                      <a:pt x="840" y="2000"/>
                    </a:lnTo>
                    <a:quadBezTo>
                      <a:pt x="3400" y="0"/>
                      <a:pt x="3840" y="2000"/>
                    </a:quadBezTo>
                    <a:lnTo>
                      <a:pt x="3000" y="5000"/>
                    </a:lnTo>
                    <a:close/>
                  </a:path>
                </a:pathLst>
              </a:custGeom>
              <a:solidFill>
                <a:srgbClr val="B6C4CD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036 Pen component"/>
              <p:cNvSpPr/>
              <p:nvPr/>
            </p:nvSpPr>
            <p:spPr>
              <a:xfrm>
                <a:off x="2609596" y="495300"/>
                <a:ext cx="32004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040" h="18000" fill="none" stroke="1">
                    <a:moveTo>
                      <a:pt x="5040" y="0"/>
                    </a:moveTo>
                    <a:lnTo>
                      <a:pt x="0" y="18000"/>
                    </a:lnTo>
                  </a:path>
                </a:pathLst>
              </a:custGeom>
              <a:noFill/>
              <a:ln w="3048">
                <a:solidFill>
                  <a:srgbClr val="E0EBF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037 Pen component"/>
              <p:cNvSpPr/>
              <p:nvPr/>
            </p:nvSpPr>
            <p:spPr>
              <a:xfrm>
                <a:off x="2651252" y="488950"/>
                <a:ext cx="302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17000" fill="none" stroke="1">
                    <a:moveTo>
                      <a:pt x="3760" y="0"/>
                    </a:moveTo>
                    <a:lnTo>
                      <a:pt x="4760" y="0"/>
                    </a:lnTo>
                    <a:lnTo>
                      <a:pt x="0" y="17000"/>
                    </a:lnTo>
                  </a:path>
                </a:pathLst>
              </a:custGeom>
              <a:noFill/>
              <a:ln w="4354">
                <a:solidFill>
                  <a:srgbClr val="687E8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Native pen icon"/>
            <p:cNvGrpSpPr/>
            <p:nvPr/>
          </p:nvGrpSpPr>
          <p:grpSpPr>
            <a:xfrm>
              <a:off x="1622146" y="370332"/>
              <a:ext cx="84125" cy="265614"/>
              <a:chOff x="2647696" y="425450"/>
              <a:chExt cx="122681" cy="387350"/>
            </a:xfrm>
          </p:grpSpPr>
          <p:sp>
            <p:nvSpPr>
              <p:cNvPr id="27" name="038 Pen component"/>
              <p:cNvSpPr/>
              <p:nvPr/>
            </p:nvSpPr>
            <p:spPr>
              <a:xfrm>
                <a:off x="2647950" y="755650"/>
                <a:ext cx="35051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519" h="9000" fill="norm" stroke="1">
                    <a:moveTo>
                      <a:pt x="520" y="0"/>
                    </a:moveTo>
                    <a:lnTo>
                      <a:pt x="0" y="9000"/>
                    </a:lnTo>
                    <a:lnTo>
                      <a:pt x="5520" y="0"/>
                    </a:lnTo>
                    <a:close/>
                  </a:path>
                </a:pathLst>
              </a:custGeom>
              <a:solidFill>
                <a:srgbClr val="BDCBD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039 Pen component"/>
              <p:cNvSpPr/>
              <p:nvPr/>
            </p:nvSpPr>
            <p:spPr>
              <a:xfrm>
                <a:off x="2653030" y="450850"/>
                <a:ext cx="108203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47000" fill="norm" stroke="1">
                    <a:moveTo>
                      <a:pt x="12040" y="4000"/>
                    </a:moveTo>
                    <a:quadBezTo>
                      <a:pt x="15160" y="0"/>
                      <a:pt x="17040" y="4000"/>
                    </a:quadBezTo>
                    <a:lnTo>
                      <a:pt x="5000" y="47000"/>
                    </a:lnTo>
                    <a:lnTo>
                      <a:pt x="0" y="47000"/>
                    </a:lnTo>
                    <a:close/>
                  </a:path>
                </a:pathLst>
              </a:custGeom>
              <a:solidFill>
                <a:srgbClr val="9CB3C7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040 Pen component"/>
              <p:cNvSpPr/>
              <p:nvPr/>
            </p:nvSpPr>
            <p:spPr>
              <a:xfrm>
                <a:off x="2647696" y="622300"/>
                <a:ext cx="72643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1439" h="23000" fill="norm" stroke="1">
                    <a:moveTo>
                      <a:pt x="6440" y="0"/>
                    </a:moveTo>
                    <a:lnTo>
                      <a:pt x="11440" y="0"/>
                    </a:lnTo>
                    <a:lnTo>
                      <a:pt x="5840" y="20000"/>
                    </a:lnTo>
                    <a:lnTo>
                      <a:pt x="0" y="23000"/>
                    </a:lnTo>
                    <a:close/>
                  </a:path>
                </a:pathLst>
              </a:custGeom>
              <a:solidFill>
                <a:srgbClr val="5F7D94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041 Pen component"/>
              <p:cNvSpPr/>
              <p:nvPr/>
            </p:nvSpPr>
            <p:spPr>
              <a:xfrm>
                <a:off x="2741168" y="425450"/>
                <a:ext cx="24383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839" h="5000" fill="norm" stroke="1">
                    <a:moveTo>
                      <a:pt x="0" y="5000"/>
                    </a:moveTo>
                    <a:lnTo>
                      <a:pt x="840" y="2000"/>
                    </a:lnTo>
                    <a:quadBezTo>
                      <a:pt x="3400" y="0"/>
                      <a:pt x="3840" y="2000"/>
                    </a:quadBezTo>
                    <a:lnTo>
                      <a:pt x="3000" y="5000"/>
                    </a:lnTo>
                    <a:close/>
                  </a:path>
                </a:pathLst>
              </a:custGeom>
              <a:solidFill>
                <a:srgbClr val="B6C4CD"/>
              </a:solidFill>
              <a:ln w="3919">
                <a:solidFill>
                  <a:srgbClr val="3E5261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042 Pen component"/>
              <p:cNvSpPr/>
              <p:nvPr/>
            </p:nvSpPr>
            <p:spPr>
              <a:xfrm>
                <a:off x="2698496" y="495300"/>
                <a:ext cx="32004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040" h="18000" fill="none" stroke="1">
                    <a:moveTo>
                      <a:pt x="5040" y="0"/>
                    </a:moveTo>
                    <a:lnTo>
                      <a:pt x="0" y="18000"/>
                    </a:lnTo>
                  </a:path>
                </a:pathLst>
              </a:custGeom>
              <a:noFill/>
              <a:ln w="3048">
                <a:solidFill>
                  <a:srgbClr val="E0EBF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043 Pen component"/>
              <p:cNvSpPr/>
              <p:nvPr/>
            </p:nvSpPr>
            <p:spPr>
              <a:xfrm>
                <a:off x="2740152" y="488950"/>
                <a:ext cx="302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17000" fill="none" stroke="1">
                    <a:moveTo>
                      <a:pt x="3760" y="0"/>
                    </a:moveTo>
                    <a:lnTo>
                      <a:pt x="4760" y="0"/>
                    </a:lnTo>
                    <a:lnTo>
                      <a:pt x="0" y="17000"/>
                    </a:lnTo>
                  </a:path>
                </a:pathLst>
              </a:custGeom>
              <a:noFill/>
              <a:ln w="4354">
                <a:solidFill>
                  <a:srgbClr val="687E8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4" name="Native price tag"/>
          <p:cNvGrpSpPr/>
          <p:nvPr/>
        </p:nvGrpSpPr>
        <p:grpSpPr>
          <a:xfrm>
            <a:off x="1777594" y="384048"/>
            <a:ext cx="246888" cy="262647"/>
            <a:chOff x="2889250" y="508000"/>
            <a:chExt cx="298450" cy="317500"/>
          </a:xfrm>
        </p:grpSpPr>
        <p:sp>
          <p:nvSpPr>
            <p:cNvPr id="35" name="045 Price tag"/>
            <p:cNvSpPr/>
            <p:nvPr/>
          </p:nvSpPr>
          <p:spPr>
            <a:xfrm>
              <a:off x="2889250" y="508000"/>
              <a:ext cx="298450" cy="317500"/>
            </a:xfrm>
            <a:custGeom>
              <a:avLst/>
              <a:gdLst/>
              <a:ahLst/>
              <a:cxnLst/>
              <a:rect l="l" t="t" r="r" b="b"/>
              <a:pathLst>
                <a:path w="47000" h="50000" fill="norm" stroke="1">
                  <a:moveTo>
                    <a:pt x="0" y="24000"/>
                  </a:moveTo>
                  <a:lnTo>
                    <a:pt x="25000" y="0"/>
                  </a:lnTo>
                  <a:lnTo>
                    <a:pt x="43000" y="1000"/>
                  </a:lnTo>
                  <a:lnTo>
                    <a:pt x="47000" y="7000"/>
                  </a:lnTo>
                  <a:lnTo>
                    <a:pt x="46000" y="27000"/>
                  </a:lnTo>
                  <a:lnTo>
                    <a:pt x="23000" y="50000"/>
                  </a:lnTo>
                  <a:close/>
                </a:path>
              </a:pathLst>
            </a:custGeom>
            <a:gradFill rotWithShape="1">
              <a:gsLst>
                <a:gs pos="0">
                  <a:srgbClr val="FFF9E8"/>
                </a:gs>
                <a:gs pos="100000">
                  <a:srgbClr val="F4DFB4"/>
                </a:gs>
              </a:gsLst>
              <a:lin ang="5400000" scaled="1"/>
            </a:gradFill>
            <a:ln w="6304">
              <a:solidFill>
                <a:srgbClr val="CDAA71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046 circle"/>
            <p:cNvSpPr/>
            <p:nvPr/>
          </p:nvSpPr>
          <p:spPr>
            <a:xfrm>
              <a:off x="3105150" y="546100"/>
              <a:ext cx="38100" cy="44450"/>
            </a:xfrm>
            <a:prstGeom prst="ellipse">
              <a:avLst/>
            </a:prstGeom>
            <a:solidFill>
              <a:srgbClr val="F8F8F0"/>
            </a:solidFill>
            <a:ln w="4202">
              <a:solidFill>
                <a:srgbClr val="9D987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047 path"/>
            <p:cNvSpPr/>
            <p:nvPr/>
          </p:nvSpPr>
          <p:spPr>
            <a:xfrm>
              <a:off x="3124200" y="520700"/>
              <a:ext cx="63500" cy="50800"/>
            </a:xfrm>
            <a:custGeom>
              <a:avLst/>
              <a:gdLst/>
              <a:ahLst/>
              <a:cxnLst/>
              <a:rect l="l" t="t" r="r" b="b"/>
              <a:pathLst>
                <a:path w="10000" h="8000" fill="none" stroke="1">
                  <a:moveTo>
                    <a:pt x="0" y="7000"/>
                  </a:moveTo>
                  <a:quadBezTo>
                    <a:pt x="8000" y="8000"/>
                    <a:pt x="10000" y="0"/>
                  </a:quadBezTo>
                </a:path>
              </a:pathLst>
            </a:custGeom>
            <a:noFill/>
            <a:ln w="3677">
              <a:solidFill>
                <a:srgbClr val="ADAB9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048 $3"/>
            <p:cNvSpPr txBox="1"/>
            <p:nvPr/>
          </p:nvSpPr>
          <p:spPr>
            <a:xfrm>
              <a:off x="2959100" y="603250"/>
              <a:ext cx="18415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27" b="1" i="0">
                  <a:solidFill>
                    <a:srgbClr val="111111"/>
                  </a:solidFill>
                  <a:latin typeface="Times New Roman"/>
                </a:rPr>
                <a:t>$3</a:t>
              </a:r>
            </a:p>
          </p:txBody>
        </p:sp>
      </p:grpSp>
      <p:grpSp>
        <p:nvGrpSpPr>
          <p:cNvPr id="39" name="Native banknote icon"/>
          <p:cNvGrpSpPr/>
          <p:nvPr/>
        </p:nvGrpSpPr>
        <p:grpSpPr>
          <a:xfrm>
            <a:off x="2076602" y="434340"/>
            <a:ext cx="292608" cy="152156"/>
            <a:chOff x="3378200" y="520700"/>
            <a:chExt cx="476250" cy="247650"/>
          </a:xfrm>
        </p:grpSpPr>
        <p:sp>
          <p:nvSpPr>
            <p:cNvPr id="40" name="050 Banknote"/>
            <p:cNvSpPr/>
            <p:nvPr/>
          </p:nvSpPr>
          <p:spPr>
            <a:xfrm>
              <a:off x="3378200" y="520700"/>
              <a:ext cx="476250" cy="247650"/>
            </a:xfrm>
            <a:prstGeom prst="rect">
              <a:avLst/>
            </a:prstGeom>
            <a:gradFill rotWithShape="1">
              <a:gsLst>
                <a:gs pos="0">
                  <a:srgbClr val="A0C9AE"/>
                </a:gs>
                <a:gs pos="100000">
                  <a:srgbClr val="8EB89C"/>
                </a:gs>
              </a:gsLst>
              <a:lin ang="5400000" scaled="1"/>
            </a:gradFill>
            <a:ln w="4292">
              <a:solidFill>
                <a:srgbClr val="62846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051 box"/>
            <p:cNvSpPr/>
            <p:nvPr/>
          </p:nvSpPr>
          <p:spPr>
            <a:xfrm>
              <a:off x="3403600" y="539750"/>
              <a:ext cx="425450" cy="209550"/>
            </a:xfrm>
            <a:prstGeom prst="rect">
              <a:avLst/>
            </a:prstGeom>
            <a:solidFill>
              <a:srgbClr val="D1E5C7"/>
            </a:solidFill>
            <a:ln w="3901">
              <a:solidFill>
                <a:srgbClr val="5B886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052 path"/>
            <p:cNvSpPr/>
            <p:nvPr/>
          </p:nvSpPr>
          <p:spPr>
            <a:xfrm>
              <a:off x="3416300" y="552450"/>
              <a:ext cx="400050" cy="177800"/>
            </a:xfrm>
            <a:custGeom>
              <a:avLst/>
              <a:gdLst/>
              <a:ahLst/>
              <a:cxnLst/>
              <a:rect l="l" t="t" r="r" b="b"/>
              <a:pathLst>
                <a:path w="63000" h="28000" fill="norm" stroke="1">
                  <a:moveTo>
                    <a:pt x="5000" y="0"/>
                  </a:moveTo>
                  <a:lnTo>
                    <a:pt x="58000" y="0"/>
                  </a:lnTo>
                  <a:quadBezTo>
                    <a:pt x="58000" y="6000"/>
                    <a:pt x="63000" y="6000"/>
                  </a:quadBezTo>
                  <a:lnTo>
                    <a:pt x="63000" y="22000"/>
                  </a:lnTo>
                  <a:quadBezTo>
                    <a:pt x="58000" y="22000"/>
                    <a:pt x="58000" y="28000"/>
                  </a:quadBezTo>
                  <a:lnTo>
                    <a:pt x="5000" y="28000"/>
                  </a:lnTo>
                  <a:quadBezTo>
                    <a:pt x="5000" y="22000"/>
                    <a:pt x="0" y="22000"/>
                  </a:quadBezTo>
                  <a:lnTo>
                    <a:pt x="0" y="6000"/>
                  </a:lnTo>
                  <a:quadBezTo>
                    <a:pt x="5000" y="6000"/>
                    <a:pt x="5000" y="0"/>
                  </a:quadBezTo>
                  <a:close/>
                </a:path>
              </a:pathLst>
            </a:custGeom>
            <a:solidFill>
              <a:srgbClr val="B7D7B9"/>
            </a:solidFill>
            <a:ln w="3121">
              <a:solidFill>
                <a:srgbClr val="72967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053 circle"/>
            <p:cNvSpPr/>
            <p:nvPr/>
          </p:nvSpPr>
          <p:spPr>
            <a:xfrm>
              <a:off x="3543300" y="558800"/>
              <a:ext cx="146050" cy="177800"/>
            </a:xfrm>
            <a:prstGeom prst="ellipse">
              <a:avLst/>
            </a:prstGeom>
            <a:solidFill>
              <a:srgbClr val="6E9E79"/>
            </a:solidFill>
            <a:ln w="2731">
              <a:solidFill>
                <a:srgbClr val="789F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054 circle"/>
            <p:cNvSpPr/>
            <p:nvPr/>
          </p:nvSpPr>
          <p:spPr>
            <a:xfrm>
              <a:off x="3454400" y="615950"/>
              <a:ext cx="50800" cy="57150"/>
            </a:xfrm>
            <a:prstGeom prst="ellipse">
              <a:avLst/>
            </a:prstGeom>
            <a:solidFill>
              <a:srgbClr val="608D6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055 circle"/>
            <p:cNvSpPr/>
            <p:nvPr/>
          </p:nvSpPr>
          <p:spPr>
            <a:xfrm>
              <a:off x="3727450" y="615950"/>
              <a:ext cx="50800" cy="57150"/>
            </a:xfrm>
            <a:prstGeom prst="ellipse">
              <a:avLst/>
            </a:prstGeom>
            <a:solidFill>
              <a:srgbClr val="608D6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056 $"/>
            <p:cNvSpPr txBox="1"/>
            <p:nvPr/>
          </p:nvSpPr>
          <p:spPr>
            <a:xfrm>
              <a:off x="3556000" y="565150"/>
              <a:ext cx="120650" cy="1778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7" b="1" i="0">
                  <a:solidFill>
                    <a:srgbClr val="E0EAD6"/>
                  </a:solidFill>
                  <a:latin typeface="Times New Roman"/>
                </a:rPr>
                <a:t>$</a:t>
              </a:r>
            </a:p>
          </p:txBody>
        </p:sp>
      </p:grpSp>
      <p:sp>
        <p:nvSpPr>
          <p:cNvPr id="47" name="Asked quantity"/>
          <p:cNvSpPr/>
          <p:nvPr/>
        </p:nvSpPr>
        <p:spPr>
          <a:xfrm>
            <a:off x="2426818" y="388620"/>
            <a:ext cx="237744" cy="237744"/>
          </a:xfrm>
          <a:prstGeom prst="roundRect">
            <a:avLst>
              <a:gd name="adj" fmla="val 16000"/>
            </a:avLst>
          </a:prstGeom>
          <a:solidFill>
            <a:srgbClr val="ECF3FB"/>
          </a:solidFill>
          <a:ln w="7620" cap="rnd">
            <a:solidFill>
              <a:srgbClr val="2A78D6"/>
            </a:solidFill>
            <a:prstDash val="sysDash"/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>?</a:t>
            </a:r>
            <a:endParaRPr lang="en-US" sz="11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Icon label"/>
          <p:cNvSpPr txBox="1"/>
          <p:nvPr/>
        </p:nvSpPr>
        <p:spPr>
          <a:xfrm>
            <a:off x="1422806" y="672084"/>
            <a:ext cx="310896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80" b="0" i="0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7 pens</a:t>
            </a:r>
            <a:endParaRPr lang="en-US" sz="680" b="0" i="0" dirty="0">
              <a:solidFill>
                <a:srgbClr val="0F7A5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9" name="Icon label"/>
          <p:cNvSpPr txBox="1"/>
          <p:nvPr/>
        </p:nvSpPr>
        <p:spPr>
          <a:xfrm>
            <a:off x="1745590" y="672084"/>
            <a:ext cx="310896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80" b="0" i="0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$3 each</a:t>
            </a:r>
            <a:endParaRPr lang="en-US" sz="680" b="0" i="0" dirty="0">
              <a:solidFill>
                <a:srgbClr val="0F7A5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Icon label"/>
          <p:cNvSpPr txBox="1"/>
          <p:nvPr/>
        </p:nvSpPr>
        <p:spPr>
          <a:xfrm>
            <a:off x="2067458" y="672084"/>
            <a:ext cx="310896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80" b="0" i="0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$50 bill</a:t>
            </a:r>
            <a:endParaRPr lang="en-US" sz="680" b="0" i="0" dirty="0">
              <a:solidFill>
                <a:srgbClr val="0F7A5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Icon label"/>
          <p:cNvSpPr txBox="1"/>
          <p:nvPr/>
        </p:nvSpPr>
        <p:spPr>
          <a:xfrm>
            <a:off x="2390242" y="672084"/>
            <a:ext cx="310896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80" b="0" i="0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>change</a:t>
            </a:r>
            <a:endParaRPr lang="en-US" sz="680" b="0" i="0" dirty="0">
              <a:solidFill>
                <a:srgbClr val="1C5CA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Givens bracket"/>
          <p:cNvSpPr/>
          <p:nvPr/>
        </p:nvSpPr>
        <p:spPr>
          <a:xfrm>
            <a:off x="1441094" y="329184"/>
            <a:ext cx="928116" cy="27432"/>
          </a:xfrm>
          <a:custGeom>
            <a:avLst/>
            <a:gdLst/>
            <a:ahLst/>
            <a:cxnLst/>
            <a:rect l="l" t="t" r="r" b="b"/>
            <a:pathLst>
              <a:path w="928116" h="27432" fill="none">
                <a:moveTo>
                  <a:pt x="0" y="27432"/>
                </a:moveTo>
                <a:lnTo>
                  <a:pt x="0" y="0"/>
                </a:lnTo>
                <a:lnTo>
                  <a:pt x="928116" y="0"/>
                </a:lnTo>
                <a:lnTo>
                  <a:pt x="928116" y="27432"/>
                </a:lnTo>
              </a:path>
            </a:pathLst>
          </a:custGeom>
          <a:noFill/>
          <a:ln w="7620" cap="rnd">
            <a:solidFill>
              <a:srgbClr val="0F7A53"/>
            </a:solidFill>
            <a:round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53" name="Givens tag"/>
          <p:cNvSpPr txBox="1"/>
          <p:nvPr/>
        </p:nvSpPr>
        <p:spPr>
          <a:xfrm>
            <a:off x="1441094" y="214884"/>
            <a:ext cx="928116" cy="1005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50" b="0" i="1" dirty="0">
                <a:solidFill>
                  <a:srgbClr val="0F7A53"/>
                </a:solidFill>
                <a:latin typeface="Times New Roman"/>
                <a:ea typeface="Times New Roman"/>
                <a:cs typeface="Times New Roman"/>
              </a:rPr>
              <a:t>givens = exact labels</a:t>
            </a:r>
            <a:endParaRPr lang="en-US" sz="650" b="0" i="0" dirty="0">
              <a:solidFill>
                <a:srgbClr val="0F7A53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Asked tag"/>
          <p:cNvSpPr txBox="1"/>
          <p:nvPr/>
        </p:nvSpPr>
        <p:spPr>
          <a:xfrm>
            <a:off x="2390242" y="214884"/>
            <a:ext cx="310896" cy="1005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50" b="0" i="1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>asked</a:t>
            </a:r>
            <a:endParaRPr lang="en-US" sz="650" b="0" i="0" dirty="0">
              <a:solidFill>
                <a:srgbClr val="1C5CA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5" name="Check caption"/>
          <p:cNvSpPr txBox="1"/>
          <p:nvPr/>
        </p:nvSpPr>
        <p:spPr>
          <a:xfrm>
            <a:off x="64008" y="818388"/>
            <a:ext cx="2651760" cy="1005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Answer-conditioned recovery:</a:t>
            </a:r>
            <a:r>
              <a:rPr lang="en-US" sz="650" b="0" i="0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650" b="0" i="1" dirty="0">
                <a:solidFill>
                  <a:srgbClr val="6E6D68"/>
                </a:solidFill>
                <a:latin typeface="Times New Roman"/>
                <a:ea typeface="Times New Roman"/>
                <a:cs typeface="Times New Roman"/>
              </a:rPr>
              <a:t>state a candidate, hide a given, solve for it.</a:t>
            </a:r>
            <a:endParaRPr lang="en-US" sz="650" b="0" i="0" dirty="0">
              <a:solidFill>
                <a:srgbClr val="6E6D68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6" name="Candidate chip"/>
          <p:cNvSpPr/>
          <p:nvPr/>
        </p:nvSpPr>
        <p:spPr>
          <a:xfrm>
            <a:off x="64008" y="950976"/>
            <a:ext cx="274320" cy="128016"/>
          </a:xfrm>
          <a:prstGeom prst="roundRect">
            <a:avLst>
              <a:gd name="adj" fmla="val 22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$29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" name="Arrow"/>
          <p:cNvSpPr/>
          <p:nvPr/>
        </p:nvSpPr>
        <p:spPr>
          <a:xfrm>
            <a:off x="352044" y="1014984"/>
            <a:ext cx="109728" cy="91"/>
          </a:xfrm>
          <a:custGeom>
            <a:avLst/>
            <a:gdLst/>
            <a:ahLst/>
            <a:cxnLst/>
            <a:rect l="l" t="t" r="r" b="b"/>
            <a:pathLst>
              <a:path w="109728" h="91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7620" cap="rnd">
            <a:solidFill>
              <a:srgbClr val="6E6D68"/>
            </a:solidFill>
            <a:round/>
            <a:tailEnd type="triangle" w="sm" len="sm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58" name="Inverse problem"/>
          <p:cNvSpPr/>
          <p:nvPr/>
        </p:nvSpPr>
        <p:spPr>
          <a:xfrm>
            <a:off x="480060" y="950976"/>
            <a:ext cx="1636776" cy="128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 cap="rnd">
            <a:solidFill>
              <a:srgbClr val="C9C8C2"/>
            </a:solidFill>
            <a:round/>
          </a:ln>
          <a:effectLst/>
        </p:spPr>
        <p:txBody>
          <a:bodyPr wrap="square" lIns="41148" tIns="0" rIns="27432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7 pens at </a:t>
            </a:r>
            <a:r>
              <a:rPr lang="en-US" sz="680" b="0" i="0" dirty="0">
                <a:solidFill>
                  <a:srgbClr val="2B2B2B"/>
                </a:solidFill>
                <a:highlight>
                  <a:srgbClr val="CDEDE2"/>
                </a:highlight>
                <a:latin typeface="Times New Roman"/>
                <a:ea typeface="Times New Roman"/>
                <a:cs typeface="Times New Roman"/>
              </a:rPr>
              <a:t>$</a:t>
            </a:r>
            <a:r>
              <a:rPr lang="en-US" sz="680" b="0" i="1" dirty="0">
                <a:solidFill>
                  <a:srgbClr val="2B2B2B"/>
                </a:solidFill>
                <a:highlight>
                  <a:srgbClr val="CDEDE2"/>
                </a:highlight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, paid 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$50, change </a:t>
            </a:r>
            <a:r>
              <a:rPr lang="en-US" sz="68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$29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. Find </a:t>
            </a:r>
            <a:r>
              <a:rPr lang="en-US" sz="68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US" sz="68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Arrow"/>
          <p:cNvSpPr/>
          <p:nvPr/>
        </p:nvSpPr>
        <p:spPr>
          <a:xfrm>
            <a:off x="2135124" y="1014984"/>
            <a:ext cx="91440" cy="91"/>
          </a:xfrm>
          <a:custGeom>
            <a:avLst/>
            <a:gdLst/>
            <a:ahLst/>
            <a:cxnLst/>
            <a:rect l="l" t="t" r="r" b="b"/>
            <a:pathLst>
              <a:path w="91440" h="91" fill="none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7620" cap="rnd">
            <a:solidFill>
              <a:srgbClr val="6E6D68"/>
            </a:solidFill>
            <a:round/>
            <a:tailEnd type="triangle" w="sm" len="sm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60" name="Recovered value"/>
          <p:cNvSpPr txBox="1"/>
          <p:nvPr/>
        </p:nvSpPr>
        <p:spPr>
          <a:xfrm>
            <a:off x="2244852" y="950976"/>
            <a:ext cx="365760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0" i="1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700" b="0" i="0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 xml:space="preserve"> = 3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Check mark"/>
          <p:cNvSpPr/>
          <p:nvPr/>
        </p:nvSpPr>
        <p:spPr>
          <a:xfrm>
            <a:off x="2615184" y="982066"/>
            <a:ext cx="82296" cy="65837"/>
          </a:xfrm>
          <a:custGeom>
            <a:avLst/>
            <a:gdLst/>
            <a:ahLst/>
            <a:cxnLst/>
            <a:rect l="l" t="t" r="r" b="b"/>
            <a:pathLst>
              <a:path w="82296" h="65837" fill="none">
                <a:moveTo>
                  <a:pt x="0" y="37033"/>
                </a:moveTo>
                <a:lnTo>
                  <a:pt x="29627" y="65837"/>
                </a:lnTo>
                <a:lnTo>
                  <a:pt x="82296" y="0"/>
                </a:lnTo>
              </a:path>
            </a:pathLst>
          </a:custGeom>
          <a:noFill/>
          <a:ln w="13970" cap="rnd">
            <a:solidFill>
              <a:srgbClr val="1C5CAB"/>
            </a:solidFill>
            <a:round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62" name="Candidate chip"/>
          <p:cNvSpPr/>
          <p:nvPr/>
        </p:nvSpPr>
        <p:spPr>
          <a:xfrm>
            <a:off x="64008" y="1106424"/>
            <a:ext cx="274320" cy="128016"/>
          </a:xfrm>
          <a:prstGeom prst="roundRect">
            <a:avLst>
              <a:gd name="adj" fmla="val 22000"/>
            </a:avLst>
          </a:prstGeom>
          <a:solidFill>
            <a:srgbClr val="EB6834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$23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3" name="Arrow"/>
          <p:cNvSpPr/>
          <p:nvPr/>
        </p:nvSpPr>
        <p:spPr>
          <a:xfrm>
            <a:off x="352044" y="1170432"/>
            <a:ext cx="109728" cy="91"/>
          </a:xfrm>
          <a:custGeom>
            <a:avLst/>
            <a:gdLst/>
            <a:ahLst/>
            <a:cxnLst/>
            <a:rect l="l" t="t" r="r" b="b"/>
            <a:pathLst>
              <a:path w="109728" h="91" fill="none">
                <a:moveTo>
                  <a:pt x="0" y="0"/>
                </a:moveTo>
                <a:lnTo>
                  <a:pt x="109728" y="0"/>
                </a:lnTo>
              </a:path>
            </a:pathLst>
          </a:custGeom>
          <a:noFill/>
          <a:ln w="7620" cap="rnd">
            <a:solidFill>
              <a:srgbClr val="6E6D68"/>
            </a:solidFill>
            <a:round/>
            <a:tailEnd type="triangle" w="sm" len="sm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64" name="Inverse problem"/>
          <p:cNvSpPr/>
          <p:nvPr/>
        </p:nvSpPr>
        <p:spPr>
          <a:xfrm>
            <a:off x="480060" y="1106424"/>
            <a:ext cx="1636776" cy="128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 cap="rnd">
            <a:solidFill>
              <a:srgbClr val="C9C8C2"/>
            </a:solidFill>
            <a:round/>
          </a:ln>
          <a:effectLst/>
        </p:spPr>
        <p:txBody>
          <a:bodyPr wrap="square" lIns="41148" tIns="0" rIns="27432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7 pens at </a:t>
            </a:r>
            <a:r>
              <a:rPr lang="en-US" sz="680" b="0" i="0" dirty="0">
                <a:solidFill>
                  <a:srgbClr val="2B2B2B"/>
                </a:solidFill>
                <a:highlight>
                  <a:srgbClr val="CDEDE2"/>
                </a:highlight>
                <a:latin typeface="Times New Roman"/>
                <a:ea typeface="Times New Roman"/>
                <a:cs typeface="Times New Roman"/>
              </a:rPr>
              <a:t>$</a:t>
            </a:r>
            <a:r>
              <a:rPr lang="en-US" sz="680" b="0" i="1" dirty="0">
                <a:solidFill>
                  <a:srgbClr val="2B2B2B"/>
                </a:solidFill>
                <a:highlight>
                  <a:srgbClr val="CDEDE2"/>
                </a:highlight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, paid 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$50, change </a:t>
            </a:r>
            <a:r>
              <a:rPr lang="en-US" sz="68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$23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 xml:space="preserve">. Find </a:t>
            </a:r>
            <a:r>
              <a:rPr lang="en-US" sz="680" b="0" i="1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68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US" sz="68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Arrow"/>
          <p:cNvSpPr/>
          <p:nvPr/>
        </p:nvSpPr>
        <p:spPr>
          <a:xfrm>
            <a:off x="2135124" y="1170432"/>
            <a:ext cx="91440" cy="91"/>
          </a:xfrm>
          <a:custGeom>
            <a:avLst/>
            <a:gdLst/>
            <a:ahLst/>
            <a:cxnLst/>
            <a:rect l="l" t="t" r="r" b="b"/>
            <a:pathLst>
              <a:path w="91440" h="91" fill="none">
                <a:moveTo>
                  <a:pt x="0" y="0"/>
                </a:moveTo>
                <a:lnTo>
                  <a:pt x="91440" y="0"/>
                </a:lnTo>
              </a:path>
            </a:pathLst>
          </a:custGeom>
          <a:noFill/>
          <a:ln w="7620" cap="rnd">
            <a:solidFill>
              <a:srgbClr val="6E6D68"/>
            </a:solidFill>
            <a:round/>
            <a:tailEnd type="triangle" w="sm" len="sm"/>
          </a:ln>
          <a:effectLst/>
        </p:spPr>
        <p:txBody>
          <a:bodyPr rtlCol="0" anchor="ctr"/>
          <a:lstStyle/>
          <a:p>
            <a:endParaRPr lang="en-US" sz="800"/>
          </a:p>
        </p:txBody>
      </p:sp>
      <p:sp>
        <p:nvSpPr>
          <p:cNvPr id="66" name="Recovered value"/>
          <p:cNvSpPr txBox="1"/>
          <p:nvPr/>
        </p:nvSpPr>
        <p:spPr>
          <a:xfrm>
            <a:off x="2244852" y="1106424"/>
            <a:ext cx="365760" cy="1280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00" b="0" i="1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lang="en-US" sz="70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 xml:space="preserve"> </a:t>
            </a:r>
            <a:r>
              <a:rPr lang="en-US" sz="700" b="0" i="0" dirty="0">
                <a:solidFill>
                  <a:srgbClr val="B8461C"/>
                </a:solidFill>
                <a:latin typeface="Cambria Math"/>
                <a:ea typeface="Cambria Math"/>
                <a:cs typeface="Cambria Math"/>
              </a:rPr>
              <a:t>≈</a:t>
            </a:r>
            <a:r>
              <a:rPr lang="en-US" sz="70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 xml:space="preserve"> 3.86</a:t>
            </a:r>
            <a:endParaRPr lang="en-US" sz="7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69" name="Cross mark"/>
          <p:cNvGrpSpPr/>
          <p:nvPr/>
        </p:nvGrpSpPr>
        <p:grpSpPr>
          <a:xfrm>
            <a:off x="2624328" y="1135685"/>
            <a:ext cx="68580" cy="68580"/>
            <a:chOff x="2624328" y="1135685"/>
            <a:chExt cx="68580" cy="68580"/>
          </a:xfrm>
        </p:grpSpPr>
        <p:sp>
          <p:nvSpPr>
            <p:cNvPr id="67" name="Cross mark"/>
            <p:cNvSpPr/>
            <p:nvPr/>
          </p:nvSpPr>
          <p:spPr>
            <a:xfrm>
              <a:off x="2624328" y="1135685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 fill="none">
                  <a:moveTo>
                    <a:pt x="0" y="0"/>
                  </a:moveTo>
                  <a:lnTo>
                    <a:pt x="68580" y="68580"/>
                  </a:lnTo>
                </a:path>
              </a:pathLst>
            </a:custGeom>
            <a:noFill/>
            <a:ln w="13970" cap="rnd">
              <a:solidFill>
                <a:srgbClr val="B8461C"/>
              </a:solidFill>
              <a:round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  <p:sp>
          <p:nvSpPr>
            <p:cNvPr id="68" name="Cross mark"/>
            <p:cNvSpPr/>
            <p:nvPr/>
          </p:nvSpPr>
          <p:spPr>
            <a:xfrm>
              <a:off x="2624328" y="1135685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 fill="none">
                  <a:moveTo>
                    <a:pt x="68580" y="0"/>
                  </a:moveTo>
                  <a:lnTo>
                    <a:pt x="0" y="68580"/>
                  </a:lnTo>
                </a:path>
              </a:pathLst>
            </a:custGeom>
            <a:noFill/>
            <a:ln w="13970" cap="rnd">
              <a:solidFill>
                <a:srgbClr val="B8461C"/>
              </a:solidFill>
              <a:round/>
            </a:ln>
            <a:effectLst/>
          </p:spPr>
          <p:txBody>
            <a:bodyPr rtlCol="0" anchor="ctr"/>
            <a:lstStyle/>
            <a:p>
              <a:endParaRPr lang="en-US" sz="800"/>
            </a:p>
          </p:txBody>
        </p:sp>
      </p:grpSp>
      <p:sp>
        <p:nvSpPr>
          <p:cNvPr id="70" name="Panel (b) background"/>
          <p:cNvSpPr/>
          <p:nvPr/>
        </p:nvSpPr>
        <p:spPr>
          <a:xfrm>
            <a:off x="0" y="1353312"/>
            <a:ext cx="2770632" cy="905256"/>
          </a:xfrm>
          <a:prstGeom prst="roundRect">
            <a:avLst>
              <a:gd name="adj" fmla="val 6500"/>
            </a:avLst>
          </a:prstGeom>
          <a:solidFill>
            <a:srgbClr val="FCF2EE"/>
          </a:solidFill>
          <a:ln>
            <a:noFill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1" name="Panel (b) title"/>
          <p:cNvSpPr txBox="1"/>
          <p:nvPr/>
        </p:nvSpPr>
        <p:spPr>
          <a:xfrm>
            <a:off x="64008" y="1394460"/>
            <a:ext cx="2651760" cy="137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50" b="1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(b) Self-consensus can be confidently wrong</a:t>
            </a:r>
            <a:endParaRPr lang="en-US" sz="8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83" name="Rollout 1: $23"/>
          <p:cNvGrpSpPr/>
          <p:nvPr/>
        </p:nvGrpSpPr>
        <p:grpSpPr>
          <a:xfrm>
            <a:off x="77724" y="1549908"/>
            <a:ext cx="274320" cy="416121"/>
            <a:chOff x="77724" y="1549908"/>
            <a:chExt cx="274320" cy="416121"/>
          </a:xfrm>
        </p:grpSpPr>
        <p:sp>
          <p:nvSpPr>
            <p:cNvPr id="72" name="Answer bubble"/>
            <p:cNvSpPr/>
            <p:nvPr/>
          </p:nvSpPr>
          <p:spPr>
            <a:xfrm>
              <a:off x="77724" y="1549908"/>
              <a:ext cx="274320" cy="141732"/>
            </a:xfrm>
            <a:prstGeom prst="wedgeRoundRectCallout">
              <a:avLst>
                <a:gd name="adj1" fmla="val -6000"/>
                <a:gd name="adj2" fmla="val 78000"/>
                <a:gd name="adj3" fmla="val 20000"/>
              </a:avLst>
            </a:prstGeom>
            <a:solidFill>
              <a:srgbClr val="FFFFFF"/>
            </a:solidFill>
            <a:ln w="7620" cap="rnd">
              <a:solidFill>
                <a:srgbClr val="EB6834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750" b="1" i="0" dirty="0">
                  <a:solidFill>
                    <a:srgbClr val="B8461C"/>
                  </a:solidFill>
                  <a:latin typeface="Times New Roman"/>
                  <a:ea typeface="Times New Roman"/>
                  <a:cs typeface="Times New Roman"/>
                </a:rPr>
                <a:t>$23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grpSp>
          <p:nvGrpSpPr>
            <p:cNvPr id="82" name="Sampled rollout"/>
            <p:cNvGrpSpPr/>
            <p:nvPr/>
          </p:nvGrpSpPr>
          <p:grpSpPr>
            <a:xfrm>
              <a:off x="105156" y="1746504"/>
              <a:ext cx="219456" cy="219525"/>
              <a:chOff x="105156" y="1746504"/>
              <a:chExt cx="219456" cy="219525"/>
            </a:xfrm>
          </p:grpSpPr>
          <p:sp>
            <p:nvSpPr>
              <p:cNvPr id="73" name="Antenna"/>
              <p:cNvSpPr/>
              <p:nvPr/>
            </p:nvSpPr>
            <p:spPr>
              <a:xfrm>
                <a:off x="214884" y="1765605"/>
                <a:ext cx="91" cy="47684"/>
              </a:xfrm>
              <a:custGeom>
                <a:avLst/>
                <a:gdLst/>
                <a:ahLst/>
                <a:cxnLst/>
                <a:rect l="l" t="t" r="r" b="b"/>
                <a:pathLst>
                  <a:path w="91" h="47684" fill="none">
                    <a:moveTo>
                      <a:pt x="0" y="0"/>
                    </a:moveTo>
                    <a:lnTo>
                      <a:pt x="0" y="47684"/>
                    </a:lnTo>
                  </a:path>
                </a:pathLst>
              </a:custGeom>
              <a:noFill/>
              <a:ln w="9543" cap="rnd">
                <a:solidFill>
                  <a:srgbClr val="2D5477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74" name="Antenna ball"/>
              <p:cNvSpPr/>
              <p:nvPr/>
            </p:nvSpPr>
            <p:spPr>
              <a:xfrm>
                <a:off x="198188" y="1746504"/>
                <a:ext cx="33392" cy="33392"/>
              </a:xfrm>
              <a:prstGeom prst="ellipse">
                <a:avLst/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75" name="Ear"/>
              <p:cNvSpPr/>
              <p:nvPr/>
            </p:nvSpPr>
            <p:spPr>
              <a:xfrm>
                <a:off x="105156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76" name="Ear"/>
              <p:cNvSpPr/>
              <p:nvPr/>
            </p:nvSpPr>
            <p:spPr>
              <a:xfrm>
                <a:off x="300770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77" name="Head"/>
              <p:cNvSpPr/>
              <p:nvPr/>
            </p:nvSpPr>
            <p:spPr>
              <a:xfrm>
                <a:off x="124257" y="1808548"/>
                <a:ext cx="181323" cy="157481"/>
              </a:xfrm>
              <a:prstGeom prst="roundRect">
                <a:avLst>
                  <a:gd name="adj" fmla="val 27272"/>
                </a:avLst>
              </a:prstGeom>
              <a:solidFill>
                <a:srgbClr val="FFFFFF"/>
              </a:solidFill>
              <a:ln w="7634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78" name="Visor"/>
              <p:cNvSpPr/>
              <p:nvPr/>
            </p:nvSpPr>
            <p:spPr>
              <a:xfrm>
                <a:off x="148099" y="1846681"/>
                <a:ext cx="133570" cy="81145"/>
              </a:xfrm>
              <a:prstGeom prst="roundRect">
                <a:avLst>
                  <a:gd name="adj" fmla="val 29411"/>
                </a:avLst>
              </a:prstGeom>
              <a:solidFill>
                <a:srgbClr val="234965"/>
              </a:solidFill>
              <a:ln w="3817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79" name="Eye"/>
              <p:cNvSpPr/>
              <p:nvPr/>
            </p:nvSpPr>
            <p:spPr>
              <a:xfrm>
                <a:off x="171941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80" name="Eye"/>
              <p:cNvSpPr/>
              <p:nvPr/>
            </p:nvSpPr>
            <p:spPr>
              <a:xfrm>
                <a:off x="236390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81" name="Mouth"/>
              <p:cNvSpPr/>
              <p:nvPr/>
            </p:nvSpPr>
            <p:spPr>
              <a:xfrm>
                <a:off x="200593" y="1899175"/>
                <a:ext cx="28652" cy="14291"/>
              </a:xfrm>
              <a:custGeom>
                <a:avLst/>
                <a:gdLst/>
                <a:ahLst/>
                <a:cxnLst/>
                <a:rect l="l" t="t" r="r" b="b"/>
                <a:pathLst>
                  <a:path w="28652" h="14291" fill="none">
                    <a:moveTo>
                      <a:pt x="0" y="0"/>
                    </a:moveTo>
                    <a:quadBezTo>
                      <a:pt x="14291" y="14291"/>
                      <a:pt x="28652" y="0"/>
                    </a:quadBezTo>
                  </a:path>
                </a:pathLst>
              </a:custGeom>
              <a:noFill/>
              <a:ln w="6680" cap="rnd">
                <a:solidFill>
                  <a:srgbClr val="C6E0F4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</p:grpSp>
      </p:grpSp>
      <p:grpSp>
        <p:nvGrpSpPr>
          <p:cNvPr id="95" name="Rollout 2: $23"/>
          <p:cNvGrpSpPr/>
          <p:nvPr/>
        </p:nvGrpSpPr>
        <p:grpSpPr>
          <a:xfrm>
            <a:off x="397764" y="1549908"/>
            <a:ext cx="274320" cy="416121"/>
            <a:chOff x="397764" y="1549908"/>
            <a:chExt cx="274320" cy="416121"/>
          </a:xfrm>
        </p:grpSpPr>
        <p:sp>
          <p:nvSpPr>
            <p:cNvPr id="84" name="Answer bubble"/>
            <p:cNvSpPr/>
            <p:nvPr/>
          </p:nvSpPr>
          <p:spPr>
            <a:xfrm>
              <a:off x="397764" y="1549908"/>
              <a:ext cx="274320" cy="141732"/>
            </a:xfrm>
            <a:prstGeom prst="wedgeRoundRectCallout">
              <a:avLst>
                <a:gd name="adj1" fmla="val -6000"/>
                <a:gd name="adj2" fmla="val 78000"/>
                <a:gd name="adj3" fmla="val 20000"/>
              </a:avLst>
            </a:prstGeom>
            <a:solidFill>
              <a:srgbClr val="FFFFFF"/>
            </a:solidFill>
            <a:ln w="7620" cap="rnd">
              <a:solidFill>
                <a:srgbClr val="EB6834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750" b="1" i="0" dirty="0">
                  <a:solidFill>
                    <a:srgbClr val="B8461C"/>
                  </a:solidFill>
                  <a:latin typeface="Times New Roman"/>
                  <a:ea typeface="Times New Roman"/>
                  <a:cs typeface="Times New Roman"/>
                </a:rPr>
                <a:t>$23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grpSp>
          <p:nvGrpSpPr>
            <p:cNvPr id="94" name="Sampled rollout"/>
            <p:cNvGrpSpPr/>
            <p:nvPr/>
          </p:nvGrpSpPr>
          <p:grpSpPr>
            <a:xfrm>
              <a:off x="425196" y="1746504"/>
              <a:ext cx="219456" cy="219525"/>
              <a:chOff x="425196" y="1746504"/>
              <a:chExt cx="219456" cy="219525"/>
            </a:xfrm>
          </p:grpSpPr>
          <p:sp>
            <p:nvSpPr>
              <p:cNvPr id="85" name="Antenna"/>
              <p:cNvSpPr/>
              <p:nvPr/>
            </p:nvSpPr>
            <p:spPr>
              <a:xfrm>
                <a:off x="534924" y="1765605"/>
                <a:ext cx="91" cy="47684"/>
              </a:xfrm>
              <a:custGeom>
                <a:avLst/>
                <a:gdLst/>
                <a:ahLst/>
                <a:cxnLst/>
                <a:rect l="l" t="t" r="r" b="b"/>
                <a:pathLst>
                  <a:path w="91" h="47684" fill="none">
                    <a:moveTo>
                      <a:pt x="0" y="0"/>
                    </a:moveTo>
                    <a:lnTo>
                      <a:pt x="0" y="47684"/>
                    </a:lnTo>
                  </a:path>
                </a:pathLst>
              </a:custGeom>
              <a:noFill/>
              <a:ln w="9543" cap="rnd">
                <a:solidFill>
                  <a:srgbClr val="2D5477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86" name="Antenna ball"/>
              <p:cNvSpPr/>
              <p:nvPr/>
            </p:nvSpPr>
            <p:spPr>
              <a:xfrm>
                <a:off x="518228" y="1746504"/>
                <a:ext cx="33392" cy="33392"/>
              </a:xfrm>
              <a:prstGeom prst="ellipse">
                <a:avLst/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87" name="Ear"/>
              <p:cNvSpPr/>
              <p:nvPr/>
            </p:nvSpPr>
            <p:spPr>
              <a:xfrm>
                <a:off x="425196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88" name="Ear"/>
              <p:cNvSpPr/>
              <p:nvPr/>
            </p:nvSpPr>
            <p:spPr>
              <a:xfrm>
                <a:off x="620810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89" name="Head"/>
              <p:cNvSpPr/>
              <p:nvPr/>
            </p:nvSpPr>
            <p:spPr>
              <a:xfrm>
                <a:off x="444297" y="1808548"/>
                <a:ext cx="181323" cy="157481"/>
              </a:xfrm>
              <a:prstGeom prst="roundRect">
                <a:avLst>
                  <a:gd name="adj" fmla="val 27272"/>
                </a:avLst>
              </a:prstGeom>
              <a:solidFill>
                <a:srgbClr val="FFFFFF"/>
              </a:solidFill>
              <a:ln w="7634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90" name="Visor"/>
              <p:cNvSpPr/>
              <p:nvPr/>
            </p:nvSpPr>
            <p:spPr>
              <a:xfrm>
                <a:off x="468139" y="1846681"/>
                <a:ext cx="133570" cy="81145"/>
              </a:xfrm>
              <a:prstGeom prst="roundRect">
                <a:avLst>
                  <a:gd name="adj" fmla="val 29411"/>
                </a:avLst>
              </a:prstGeom>
              <a:solidFill>
                <a:srgbClr val="234965"/>
              </a:solidFill>
              <a:ln w="3817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91" name="Eye"/>
              <p:cNvSpPr/>
              <p:nvPr/>
            </p:nvSpPr>
            <p:spPr>
              <a:xfrm>
                <a:off x="491981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92" name="Eye"/>
              <p:cNvSpPr/>
              <p:nvPr/>
            </p:nvSpPr>
            <p:spPr>
              <a:xfrm>
                <a:off x="556430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93" name="Mouth"/>
              <p:cNvSpPr/>
              <p:nvPr/>
            </p:nvSpPr>
            <p:spPr>
              <a:xfrm>
                <a:off x="520633" y="1899175"/>
                <a:ext cx="28652" cy="14291"/>
              </a:xfrm>
              <a:custGeom>
                <a:avLst/>
                <a:gdLst/>
                <a:ahLst/>
                <a:cxnLst/>
                <a:rect l="l" t="t" r="r" b="b"/>
                <a:pathLst>
                  <a:path w="28652" h="14291" fill="none">
                    <a:moveTo>
                      <a:pt x="0" y="0"/>
                    </a:moveTo>
                    <a:quadBezTo>
                      <a:pt x="14291" y="14291"/>
                      <a:pt x="28652" y="0"/>
                    </a:quadBezTo>
                  </a:path>
                </a:pathLst>
              </a:custGeom>
              <a:noFill/>
              <a:ln w="6680" cap="rnd">
                <a:solidFill>
                  <a:srgbClr val="C6E0F4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</p:grpSp>
      </p:grpSp>
      <p:grpSp>
        <p:nvGrpSpPr>
          <p:cNvPr id="107" name="Rollout 3: $23"/>
          <p:cNvGrpSpPr/>
          <p:nvPr/>
        </p:nvGrpSpPr>
        <p:grpSpPr>
          <a:xfrm>
            <a:off x="717804" y="1549908"/>
            <a:ext cx="274320" cy="416121"/>
            <a:chOff x="717804" y="1549908"/>
            <a:chExt cx="274320" cy="416121"/>
          </a:xfrm>
        </p:grpSpPr>
        <p:sp>
          <p:nvSpPr>
            <p:cNvPr id="96" name="Answer bubble"/>
            <p:cNvSpPr/>
            <p:nvPr/>
          </p:nvSpPr>
          <p:spPr>
            <a:xfrm>
              <a:off x="717804" y="1549908"/>
              <a:ext cx="274320" cy="141732"/>
            </a:xfrm>
            <a:prstGeom prst="wedgeRoundRectCallout">
              <a:avLst>
                <a:gd name="adj1" fmla="val -6000"/>
                <a:gd name="adj2" fmla="val 78000"/>
                <a:gd name="adj3" fmla="val 20000"/>
              </a:avLst>
            </a:prstGeom>
            <a:solidFill>
              <a:srgbClr val="FFFFFF"/>
            </a:solidFill>
            <a:ln w="7620" cap="rnd">
              <a:solidFill>
                <a:srgbClr val="EB6834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750" b="1" i="0" dirty="0">
                  <a:solidFill>
                    <a:srgbClr val="B8461C"/>
                  </a:solidFill>
                  <a:latin typeface="Times New Roman"/>
                  <a:ea typeface="Times New Roman"/>
                  <a:cs typeface="Times New Roman"/>
                </a:rPr>
                <a:t>$23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grpSp>
          <p:nvGrpSpPr>
            <p:cNvPr id="106" name="Sampled rollout"/>
            <p:cNvGrpSpPr/>
            <p:nvPr/>
          </p:nvGrpSpPr>
          <p:grpSpPr>
            <a:xfrm>
              <a:off x="745236" y="1746504"/>
              <a:ext cx="219456" cy="219525"/>
              <a:chOff x="745236" y="1746504"/>
              <a:chExt cx="219456" cy="219525"/>
            </a:xfrm>
          </p:grpSpPr>
          <p:sp>
            <p:nvSpPr>
              <p:cNvPr id="97" name="Antenna"/>
              <p:cNvSpPr/>
              <p:nvPr/>
            </p:nvSpPr>
            <p:spPr>
              <a:xfrm>
                <a:off x="854964" y="1765605"/>
                <a:ext cx="91" cy="47684"/>
              </a:xfrm>
              <a:custGeom>
                <a:avLst/>
                <a:gdLst/>
                <a:ahLst/>
                <a:cxnLst/>
                <a:rect l="l" t="t" r="r" b="b"/>
                <a:pathLst>
                  <a:path w="91" h="47684" fill="none">
                    <a:moveTo>
                      <a:pt x="0" y="0"/>
                    </a:moveTo>
                    <a:lnTo>
                      <a:pt x="0" y="47684"/>
                    </a:lnTo>
                  </a:path>
                </a:pathLst>
              </a:custGeom>
              <a:noFill/>
              <a:ln w="9543" cap="rnd">
                <a:solidFill>
                  <a:srgbClr val="2D5477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98" name="Antenna ball"/>
              <p:cNvSpPr/>
              <p:nvPr/>
            </p:nvSpPr>
            <p:spPr>
              <a:xfrm>
                <a:off x="838268" y="1746504"/>
                <a:ext cx="33392" cy="33392"/>
              </a:xfrm>
              <a:prstGeom prst="ellipse">
                <a:avLst/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99" name="Ear"/>
              <p:cNvSpPr/>
              <p:nvPr/>
            </p:nvSpPr>
            <p:spPr>
              <a:xfrm>
                <a:off x="745236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00" name="Ear"/>
              <p:cNvSpPr/>
              <p:nvPr/>
            </p:nvSpPr>
            <p:spPr>
              <a:xfrm>
                <a:off x="940850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01" name="Head"/>
              <p:cNvSpPr/>
              <p:nvPr/>
            </p:nvSpPr>
            <p:spPr>
              <a:xfrm>
                <a:off x="764337" y="1808548"/>
                <a:ext cx="181323" cy="157481"/>
              </a:xfrm>
              <a:prstGeom prst="roundRect">
                <a:avLst>
                  <a:gd name="adj" fmla="val 27272"/>
                </a:avLst>
              </a:prstGeom>
              <a:solidFill>
                <a:srgbClr val="FFFFFF"/>
              </a:solidFill>
              <a:ln w="7634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02" name="Visor"/>
              <p:cNvSpPr/>
              <p:nvPr/>
            </p:nvSpPr>
            <p:spPr>
              <a:xfrm>
                <a:off x="788179" y="1846681"/>
                <a:ext cx="133570" cy="81145"/>
              </a:xfrm>
              <a:prstGeom prst="roundRect">
                <a:avLst>
                  <a:gd name="adj" fmla="val 29411"/>
                </a:avLst>
              </a:prstGeom>
              <a:solidFill>
                <a:srgbClr val="234965"/>
              </a:solidFill>
              <a:ln w="3817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03" name="Eye"/>
              <p:cNvSpPr/>
              <p:nvPr/>
            </p:nvSpPr>
            <p:spPr>
              <a:xfrm>
                <a:off x="812021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04" name="Eye"/>
              <p:cNvSpPr/>
              <p:nvPr/>
            </p:nvSpPr>
            <p:spPr>
              <a:xfrm>
                <a:off x="876470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05" name="Mouth"/>
              <p:cNvSpPr/>
              <p:nvPr/>
            </p:nvSpPr>
            <p:spPr>
              <a:xfrm>
                <a:off x="840673" y="1899175"/>
                <a:ext cx="28652" cy="14291"/>
              </a:xfrm>
              <a:custGeom>
                <a:avLst/>
                <a:gdLst/>
                <a:ahLst/>
                <a:cxnLst/>
                <a:rect l="l" t="t" r="r" b="b"/>
                <a:pathLst>
                  <a:path w="28652" h="14291" fill="none">
                    <a:moveTo>
                      <a:pt x="0" y="0"/>
                    </a:moveTo>
                    <a:quadBezTo>
                      <a:pt x="14291" y="14291"/>
                      <a:pt x="28652" y="0"/>
                    </a:quadBezTo>
                  </a:path>
                </a:pathLst>
              </a:custGeom>
              <a:noFill/>
              <a:ln w="6680" cap="rnd">
                <a:solidFill>
                  <a:srgbClr val="C6E0F4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</p:grpSp>
      </p:grpSp>
      <p:grpSp>
        <p:nvGrpSpPr>
          <p:cNvPr id="119" name="Rollout 4: $23"/>
          <p:cNvGrpSpPr/>
          <p:nvPr/>
        </p:nvGrpSpPr>
        <p:grpSpPr>
          <a:xfrm>
            <a:off x="1037844" y="1549908"/>
            <a:ext cx="274320" cy="416121"/>
            <a:chOff x="1037844" y="1549908"/>
            <a:chExt cx="274320" cy="416121"/>
          </a:xfrm>
        </p:grpSpPr>
        <p:sp>
          <p:nvSpPr>
            <p:cNvPr id="108" name="Answer bubble"/>
            <p:cNvSpPr/>
            <p:nvPr/>
          </p:nvSpPr>
          <p:spPr>
            <a:xfrm>
              <a:off x="1037844" y="1549908"/>
              <a:ext cx="274320" cy="141732"/>
            </a:xfrm>
            <a:prstGeom prst="wedgeRoundRectCallout">
              <a:avLst>
                <a:gd name="adj1" fmla="val -6000"/>
                <a:gd name="adj2" fmla="val 78000"/>
                <a:gd name="adj3" fmla="val 20000"/>
              </a:avLst>
            </a:prstGeom>
            <a:solidFill>
              <a:srgbClr val="FFFFFF"/>
            </a:solidFill>
            <a:ln w="7620" cap="rnd">
              <a:solidFill>
                <a:srgbClr val="EB6834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750" b="1" i="0" dirty="0">
                  <a:solidFill>
                    <a:srgbClr val="B8461C"/>
                  </a:solidFill>
                  <a:latin typeface="Times New Roman"/>
                  <a:ea typeface="Times New Roman"/>
                  <a:cs typeface="Times New Roman"/>
                </a:rPr>
                <a:t>$23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grpSp>
          <p:nvGrpSpPr>
            <p:cNvPr id="118" name="Sampled rollout"/>
            <p:cNvGrpSpPr/>
            <p:nvPr/>
          </p:nvGrpSpPr>
          <p:grpSpPr>
            <a:xfrm>
              <a:off x="1065276" y="1746504"/>
              <a:ext cx="219456" cy="219525"/>
              <a:chOff x="1065276" y="1746504"/>
              <a:chExt cx="219456" cy="219525"/>
            </a:xfrm>
          </p:grpSpPr>
          <p:sp>
            <p:nvSpPr>
              <p:cNvPr id="109" name="Antenna"/>
              <p:cNvSpPr/>
              <p:nvPr/>
            </p:nvSpPr>
            <p:spPr>
              <a:xfrm>
                <a:off x="1175004" y="1765605"/>
                <a:ext cx="91" cy="47684"/>
              </a:xfrm>
              <a:custGeom>
                <a:avLst/>
                <a:gdLst/>
                <a:ahLst/>
                <a:cxnLst/>
                <a:rect l="l" t="t" r="r" b="b"/>
                <a:pathLst>
                  <a:path w="91" h="47684" fill="none">
                    <a:moveTo>
                      <a:pt x="0" y="0"/>
                    </a:moveTo>
                    <a:lnTo>
                      <a:pt x="0" y="47684"/>
                    </a:lnTo>
                  </a:path>
                </a:pathLst>
              </a:custGeom>
              <a:noFill/>
              <a:ln w="9543" cap="rnd">
                <a:solidFill>
                  <a:srgbClr val="2D5477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110" name="Antenna ball"/>
              <p:cNvSpPr/>
              <p:nvPr/>
            </p:nvSpPr>
            <p:spPr>
              <a:xfrm>
                <a:off x="1158308" y="1746504"/>
                <a:ext cx="33392" cy="33392"/>
              </a:xfrm>
              <a:prstGeom prst="ellipse">
                <a:avLst/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11" name="Ear"/>
              <p:cNvSpPr/>
              <p:nvPr/>
            </p:nvSpPr>
            <p:spPr>
              <a:xfrm>
                <a:off x="1065276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12" name="Ear"/>
              <p:cNvSpPr/>
              <p:nvPr/>
            </p:nvSpPr>
            <p:spPr>
              <a:xfrm>
                <a:off x="1260890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13" name="Head"/>
              <p:cNvSpPr/>
              <p:nvPr/>
            </p:nvSpPr>
            <p:spPr>
              <a:xfrm>
                <a:off x="1084377" y="1808548"/>
                <a:ext cx="181323" cy="157481"/>
              </a:xfrm>
              <a:prstGeom prst="roundRect">
                <a:avLst>
                  <a:gd name="adj" fmla="val 27272"/>
                </a:avLst>
              </a:prstGeom>
              <a:solidFill>
                <a:srgbClr val="FFFFFF"/>
              </a:solidFill>
              <a:ln w="7634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14" name="Visor"/>
              <p:cNvSpPr/>
              <p:nvPr/>
            </p:nvSpPr>
            <p:spPr>
              <a:xfrm>
                <a:off x="1108219" y="1846681"/>
                <a:ext cx="133570" cy="81145"/>
              </a:xfrm>
              <a:prstGeom prst="roundRect">
                <a:avLst>
                  <a:gd name="adj" fmla="val 29411"/>
                </a:avLst>
              </a:prstGeom>
              <a:solidFill>
                <a:srgbClr val="234965"/>
              </a:solidFill>
              <a:ln w="3817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15" name="Eye"/>
              <p:cNvSpPr/>
              <p:nvPr/>
            </p:nvSpPr>
            <p:spPr>
              <a:xfrm>
                <a:off x="1132061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16" name="Eye"/>
              <p:cNvSpPr/>
              <p:nvPr/>
            </p:nvSpPr>
            <p:spPr>
              <a:xfrm>
                <a:off x="1196510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17" name="Mouth"/>
              <p:cNvSpPr/>
              <p:nvPr/>
            </p:nvSpPr>
            <p:spPr>
              <a:xfrm>
                <a:off x="1160713" y="1899175"/>
                <a:ext cx="28652" cy="14291"/>
              </a:xfrm>
              <a:custGeom>
                <a:avLst/>
                <a:gdLst/>
                <a:ahLst/>
                <a:cxnLst/>
                <a:rect l="l" t="t" r="r" b="b"/>
                <a:pathLst>
                  <a:path w="28652" h="14291" fill="none">
                    <a:moveTo>
                      <a:pt x="0" y="0"/>
                    </a:moveTo>
                    <a:quadBezTo>
                      <a:pt x="14291" y="14291"/>
                      <a:pt x="28652" y="0"/>
                    </a:quadBezTo>
                  </a:path>
                </a:pathLst>
              </a:custGeom>
              <a:noFill/>
              <a:ln w="6680" cap="rnd">
                <a:solidFill>
                  <a:srgbClr val="C6E0F4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</p:grpSp>
      </p:grpSp>
      <p:grpSp>
        <p:nvGrpSpPr>
          <p:cNvPr id="131" name="Rollout 5: $29"/>
          <p:cNvGrpSpPr/>
          <p:nvPr/>
        </p:nvGrpSpPr>
        <p:grpSpPr>
          <a:xfrm>
            <a:off x="1357884" y="1549908"/>
            <a:ext cx="274320" cy="416121"/>
            <a:chOff x="1357884" y="1549908"/>
            <a:chExt cx="274320" cy="416121"/>
          </a:xfrm>
        </p:grpSpPr>
        <p:sp>
          <p:nvSpPr>
            <p:cNvPr id="120" name="Answer bubble"/>
            <p:cNvSpPr/>
            <p:nvPr/>
          </p:nvSpPr>
          <p:spPr>
            <a:xfrm>
              <a:off x="1357884" y="1549908"/>
              <a:ext cx="274320" cy="141732"/>
            </a:xfrm>
            <a:prstGeom prst="wedgeRoundRectCallout">
              <a:avLst>
                <a:gd name="adj1" fmla="val -6000"/>
                <a:gd name="adj2" fmla="val 78000"/>
                <a:gd name="adj3" fmla="val 20000"/>
              </a:avLst>
            </a:prstGeom>
            <a:solidFill>
              <a:srgbClr val="FFFFFF"/>
            </a:solidFill>
            <a:ln w="7620" cap="rnd">
              <a:solidFill>
                <a:srgbClr val="2A78D6"/>
              </a:solidFill>
              <a:round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750" b="1" i="0" dirty="0">
                  <a:solidFill>
                    <a:srgbClr val="1C5CAB"/>
                  </a:solidFill>
                  <a:latin typeface="Times New Roman"/>
                  <a:ea typeface="Times New Roman"/>
                  <a:cs typeface="Times New Roman"/>
                </a:rPr>
                <a:t>$29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grpSp>
          <p:nvGrpSpPr>
            <p:cNvPr id="130" name="Sampled rollout"/>
            <p:cNvGrpSpPr/>
            <p:nvPr/>
          </p:nvGrpSpPr>
          <p:grpSpPr>
            <a:xfrm>
              <a:off x="1385316" y="1746504"/>
              <a:ext cx="219456" cy="219525"/>
              <a:chOff x="1385316" y="1746504"/>
              <a:chExt cx="219456" cy="219525"/>
            </a:xfrm>
          </p:grpSpPr>
          <p:sp>
            <p:nvSpPr>
              <p:cNvPr id="121" name="Antenna"/>
              <p:cNvSpPr/>
              <p:nvPr/>
            </p:nvSpPr>
            <p:spPr>
              <a:xfrm>
                <a:off x="1495044" y="1765605"/>
                <a:ext cx="91" cy="47684"/>
              </a:xfrm>
              <a:custGeom>
                <a:avLst/>
                <a:gdLst/>
                <a:ahLst/>
                <a:cxnLst/>
                <a:rect l="l" t="t" r="r" b="b"/>
                <a:pathLst>
                  <a:path w="91" h="47684" fill="none">
                    <a:moveTo>
                      <a:pt x="0" y="0"/>
                    </a:moveTo>
                    <a:lnTo>
                      <a:pt x="0" y="47684"/>
                    </a:lnTo>
                  </a:path>
                </a:pathLst>
              </a:custGeom>
              <a:noFill/>
              <a:ln w="9543" cap="rnd">
                <a:solidFill>
                  <a:srgbClr val="2D5477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122" name="Antenna ball"/>
              <p:cNvSpPr/>
              <p:nvPr/>
            </p:nvSpPr>
            <p:spPr>
              <a:xfrm>
                <a:off x="1478348" y="1746504"/>
                <a:ext cx="33392" cy="33392"/>
              </a:xfrm>
              <a:prstGeom prst="ellipse">
                <a:avLst/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23" name="Ear"/>
              <p:cNvSpPr/>
              <p:nvPr/>
            </p:nvSpPr>
            <p:spPr>
              <a:xfrm>
                <a:off x="1385316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24" name="Ear"/>
              <p:cNvSpPr/>
              <p:nvPr/>
            </p:nvSpPr>
            <p:spPr>
              <a:xfrm>
                <a:off x="1580930" y="1856232"/>
                <a:ext cx="23842" cy="66785"/>
              </a:xfrm>
              <a:prstGeom prst="roundRect">
                <a:avLst>
                  <a:gd name="adj" fmla="val 40000"/>
                </a:avLst>
              </a:prstGeom>
              <a:solidFill>
                <a:srgbClr val="9DC4E8"/>
              </a:solidFill>
              <a:ln w="5726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25" name="Head"/>
              <p:cNvSpPr/>
              <p:nvPr/>
            </p:nvSpPr>
            <p:spPr>
              <a:xfrm>
                <a:off x="1404417" y="1808548"/>
                <a:ext cx="181323" cy="157481"/>
              </a:xfrm>
              <a:prstGeom prst="roundRect">
                <a:avLst>
                  <a:gd name="adj" fmla="val 27272"/>
                </a:avLst>
              </a:prstGeom>
              <a:solidFill>
                <a:srgbClr val="FFFFFF"/>
              </a:solidFill>
              <a:ln w="7634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26" name="Visor"/>
              <p:cNvSpPr/>
              <p:nvPr/>
            </p:nvSpPr>
            <p:spPr>
              <a:xfrm>
                <a:off x="1428259" y="1846681"/>
                <a:ext cx="133570" cy="81145"/>
              </a:xfrm>
              <a:prstGeom prst="roundRect">
                <a:avLst>
                  <a:gd name="adj" fmla="val 29411"/>
                </a:avLst>
              </a:prstGeom>
              <a:solidFill>
                <a:srgbClr val="234965"/>
              </a:solidFill>
              <a:ln w="3817" cap="rnd">
                <a:solidFill>
                  <a:srgbClr val="2D5477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27" name="Eye"/>
              <p:cNvSpPr/>
              <p:nvPr/>
            </p:nvSpPr>
            <p:spPr>
              <a:xfrm>
                <a:off x="1452101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28" name="Eye"/>
              <p:cNvSpPr/>
              <p:nvPr/>
            </p:nvSpPr>
            <p:spPr>
              <a:xfrm>
                <a:off x="1516550" y="1870592"/>
                <a:ext cx="21506" cy="2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29" name="Mouth"/>
              <p:cNvSpPr/>
              <p:nvPr/>
            </p:nvSpPr>
            <p:spPr>
              <a:xfrm>
                <a:off x="1480753" y="1899175"/>
                <a:ext cx="28652" cy="14291"/>
              </a:xfrm>
              <a:custGeom>
                <a:avLst/>
                <a:gdLst/>
                <a:ahLst/>
                <a:cxnLst/>
                <a:rect l="l" t="t" r="r" b="b"/>
                <a:pathLst>
                  <a:path w="28652" h="14291" fill="none">
                    <a:moveTo>
                      <a:pt x="0" y="0"/>
                    </a:moveTo>
                    <a:quadBezTo>
                      <a:pt x="14291" y="14291"/>
                      <a:pt x="28652" y="0"/>
                    </a:quadBezTo>
                  </a:path>
                </a:pathLst>
              </a:custGeom>
              <a:noFill/>
              <a:ln w="6680" cap="rnd">
                <a:solidFill>
                  <a:srgbClr val="C6E0F4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</p:grpSp>
      </p:grpSp>
      <p:sp>
        <p:nvSpPr>
          <p:cNvPr id="132" name="Majority brace"/>
          <p:cNvSpPr/>
          <p:nvPr/>
        </p:nvSpPr>
        <p:spPr>
          <a:xfrm rot="5400000">
            <a:off x="662940" y="1399032"/>
            <a:ext cx="64008" cy="1234440"/>
          </a:xfrm>
          <a:prstGeom prst="rightBrace">
            <a:avLst>
              <a:gd name="adj1" fmla="val 8333"/>
              <a:gd name="adj2" fmla="val 50000"/>
            </a:avLst>
          </a:prstGeom>
          <a:noFill/>
          <a:ln w="7620" cap="rnd">
            <a:solidFill>
              <a:srgbClr val="B8461C"/>
            </a:solidFill>
            <a:round/>
          </a:ln>
          <a:effectLst/>
        </p:spPr>
        <p:txBody>
          <a:bodyPr wrap="square" lIns="18288" tIns="9144" rIns="18288" bIns="9144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80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3" name="Majority label"/>
          <p:cNvSpPr txBox="1"/>
          <p:nvPr/>
        </p:nvSpPr>
        <p:spPr>
          <a:xfrm>
            <a:off x="77724" y="2089404"/>
            <a:ext cx="1234440" cy="109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8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 xml:space="preserve">majority answer: </a:t>
            </a:r>
            <a:r>
              <a:rPr lang="en-US" sz="680" b="1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$23</a:t>
            </a:r>
            <a:r>
              <a:rPr lang="en-US" sz="68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 xml:space="preserve"> (wrong)</a:t>
            </a:r>
            <a:endParaRPr lang="en-US" sz="68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4" name="Minority label"/>
          <p:cNvSpPr txBox="1"/>
          <p:nvPr/>
        </p:nvSpPr>
        <p:spPr>
          <a:xfrm>
            <a:off x="1312164" y="2020824"/>
            <a:ext cx="36576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630" b="0" i="0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>correct,</a:t>
            </a:r>
            <a:endParaRPr lang="en-US" sz="63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630" b="0" i="0" dirty="0">
                <a:solidFill>
                  <a:srgbClr val="1C5CAB"/>
                </a:solidFill>
                <a:latin typeface="Times New Roman"/>
                <a:ea typeface="Times New Roman"/>
                <a:cs typeface="Times New Roman"/>
              </a:rPr>
              <a:t>penalized</a:t>
            </a:r>
            <a:endParaRPr lang="en-US" sz="63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5" name="Reinforce the majority"/>
          <p:cNvSpPr/>
          <p:nvPr/>
        </p:nvSpPr>
        <p:spPr>
          <a:xfrm>
            <a:off x="1691640" y="1627632"/>
            <a:ext cx="530352" cy="310896"/>
          </a:xfrm>
          <a:prstGeom prst="rightArrow">
            <a:avLst>
              <a:gd name="adj1" fmla="val 66000"/>
              <a:gd name="adj2" fmla="val 36000"/>
            </a:avLst>
          </a:prstGeom>
          <a:solidFill>
            <a:srgbClr val="F7D3C3"/>
          </a:solidFill>
          <a:ln>
            <a:noFill/>
          </a:ln>
          <a:effectLst/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630" b="1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reinforce</a:t>
            </a:r>
            <a:endParaRPr lang="en-US" sz="63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63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majority</a:t>
            </a:r>
            <a:endParaRPr lang="en-US" sz="63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47" name="Outcome"/>
          <p:cNvGrpSpPr/>
          <p:nvPr/>
        </p:nvGrpSpPr>
        <p:grpSpPr>
          <a:xfrm>
            <a:off x="2313432" y="1549908"/>
            <a:ext cx="310896" cy="448142"/>
            <a:chOff x="2313432" y="1549908"/>
            <a:chExt cx="310896" cy="448142"/>
          </a:xfrm>
        </p:grpSpPr>
        <p:sp>
          <p:nvSpPr>
            <p:cNvPr id="136" name="Confident wrong answer"/>
            <p:cNvSpPr/>
            <p:nvPr/>
          </p:nvSpPr>
          <p:spPr>
            <a:xfrm>
              <a:off x="2313432" y="1549908"/>
              <a:ext cx="310896" cy="141732"/>
            </a:xfrm>
            <a:prstGeom prst="wedgeRoundRectCallout">
              <a:avLst>
                <a:gd name="adj1" fmla="val -6000"/>
                <a:gd name="adj2" fmla="val 78000"/>
                <a:gd name="adj3" fmla="val 20000"/>
              </a:avLst>
            </a:prstGeom>
            <a:solidFill>
              <a:srgbClr val="EB6834"/>
            </a:solidFill>
            <a:ln>
              <a:noFill/>
            </a:ln>
            <a:effectLst/>
          </p:spPr>
          <p:txBody>
            <a:bodyPr wrap="square" lIns="18288" tIns="9144" rIns="18288" bIns="9144" anchor="ctr" rtlCol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en-US" sz="750" b="1" i="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$23</a:t>
              </a:r>
              <a:endParaRPr lang="en-US" sz="750" b="0" i="0" dirty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grpSp>
          <p:nvGrpSpPr>
            <p:cNvPr id="146" name="Confidently wrong policy"/>
            <p:cNvGrpSpPr/>
            <p:nvPr/>
          </p:nvGrpSpPr>
          <p:grpSpPr>
            <a:xfrm>
              <a:off x="2331720" y="1723644"/>
              <a:ext cx="274320" cy="274406"/>
              <a:chOff x="2331720" y="1723644"/>
              <a:chExt cx="274320" cy="274406"/>
            </a:xfrm>
          </p:grpSpPr>
          <p:sp>
            <p:nvSpPr>
              <p:cNvPr id="137" name="Antenna"/>
              <p:cNvSpPr/>
              <p:nvPr/>
            </p:nvSpPr>
            <p:spPr>
              <a:xfrm>
                <a:off x="2468880" y="1747520"/>
                <a:ext cx="91" cy="59605"/>
              </a:xfrm>
              <a:custGeom>
                <a:avLst/>
                <a:gdLst/>
                <a:ahLst/>
                <a:cxnLst/>
                <a:rect l="l" t="t" r="r" b="b"/>
                <a:pathLst>
                  <a:path w="91" h="59605" fill="none">
                    <a:moveTo>
                      <a:pt x="0" y="0"/>
                    </a:moveTo>
                    <a:lnTo>
                      <a:pt x="0" y="59605"/>
                    </a:lnTo>
                  </a:path>
                </a:pathLst>
              </a:custGeom>
              <a:noFill/>
              <a:ln w="11929" cap="rnd">
                <a:solidFill>
                  <a:srgbClr val="B8461C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138" name="Antenna ball"/>
              <p:cNvSpPr/>
              <p:nvPr/>
            </p:nvSpPr>
            <p:spPr>
              <a:xfrm>
                <a:off x="2448010" y="1723644"/>
                <a:ext cx="41741" cy="41741"/>
              </a:xfrm>
              <a:prstGeom prst="ellipse">
                <a:avLst/>
              </a:prstGeom>
              <a:solidFill>
                <a:srgbClr val="F5B49A"/>
              </a:solidFill>
              <a:ln w="7157" cap="rnd">
                <a:solidFill>
                  <a:srgbClr val="B8461C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39" name="Ear"/>
              <p:cNvSpPr/>
              <p:nvPr/>
            </p:nvSpPr>
            <p:spPr>
              <a:xfrm>
                <a:off x="2331720" y="1860804"/>
                <a:ext cx="29802" cy="83481"/>
              </a:xfrm>
              <a:prstGeom prst="roundRect">
                <a:avLst>
                  <a:gd name="adj" fmla="val 40000"/>
                </a:avLst>
              </a:prstGeom>
              <a:solidFill>
                <a:srgbClr val="F5B49A"/>
              </a:solidFill>
              <a:ln w="7157" cap="rnd">
                <a:solidFill>
                  <a:srgbClr val="B8461C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40" name="Ear"/>
              <p:cNvSpPr/>
              <p:nvPr/>
            </p:nvSpPr>
            <p:spPr>
              <a:xfrm>
                <a:off x="2576238" y="1860804"/>
                <a:ext cx="29802" cy="83481"/>
              </a:xfrm>
              <a:prstGeom prst="roundRect">
                <a:avLst>
                  <a:gd name="adj" fmla="val 40000"/>
                </a:avLst>
              </a:prstGeom>
              <a:solidFill>
                <a:srgbClr val="F5B49A"/>
              </a:solidFill>
              <a:ln w="7157" cap="rnd">
                <a:solidFill>
                  <a:srgbClr val="B8461C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41" name="Head"/>
              <p:cNvSpPr/>
              <p:nvPr/>
            </p:nvSpPr>
            <p:spPr>
              <a:xfrm>
                <a:off x="2355596" y="1801199"/>
                <a:ext cx="226653" cy="196851"/>
              </a:xfrm>
              <a:prstGeom prst="roundRect">
                <a:avLst>
                  <a:gd name="adj" fmla="val 27272"/>
                </a:avLst>
              </a:prstGeom>
              <a:solidFill>
                <a:srgbClr val="FFFFFF"/>
              </a:solidFill>
              <a:ln w="9543" cap="rnd">
                <a:solidFill>
                  <a:srgbClr val="B8461C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42" name="Visor"/>
              <p:cNvSpPr/>
              <p:nvPr/>
            </p:nvSpPr>
            <p:spPr>
              <a:xfrm>
                <a:off x="2385399" y="1848866"/>
                <a:ext cx="166962" cy="101431"/>
              </a:xfrm>
              <a:prstGeom prst="roundRect">
                <a:avLst>
                  <a:gd name="adj" fmla="val 29411"/>
                </a:avLst>
              </a:prstGeom>
              <a:solidFill>
                <a:srgbClr val="8A3B12"/>
              </a:solidFill>
              <a:ln w="4771" cap="rnd">
                <a:solidFill>
                  <a:srgbClr val="B8461C"/>
                </a:solidFill>
                <a:round/>
              </a:ln>
              <a:effectLst/>
            </p:spPr>
            <p:txBody>
              <a:bodyPr wrap="square" lIns="18288" tIns="9144" rIns="18288" bIns="9144" anchor="ctr" rtlCol="0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800" b="0" i="0" dirty="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sp>
            <p:nvSpPr>
              <p:cNvPr id="143" name="Eye"/>
              <p:cNvSpPr/>
              <p:nvPr/>
            </p:nvSpPr>
            <p:spPr>
              <a:xfrm>
                <a:off x="2415201" y="1889061"/>
                <a:ext cx="26625" cy="91"/>
              </a:xfrm>
              <a:custGeom>
                <a:avLst/>
                <a:gdLst/>
                <a:ahLst/>
                <a:cxnLst/>
                <a:rect l="l" t="t" r="r" b="b"/>
                <a:pathLst>
                  <a:path w="26625" h="91" fill="none">
                    <a:moveTo>
                      <a:pt x="0" y="0"/>
                    </a:moveTo>
                    <a:lnTo>
                      <a:pt x="26625" y="0"/>
                    </a:lnTo>
                  </a:path>
                </a:pathLst>
              </a:custGeom>
              <a:noFill/>
              <a:ln w="14314" cap="rnd">
                <a:solidFill>
                  <a:srgbClr val="FFFFFF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144" name="Eye"/>
              <p:cNvSpPr/>
              <p:nvPr/>
            </p:nvSpPr>
            <p:spPr>
              <a:xfrm>
                <a:off x="2495762" y="1889061"/>
                <a:ext cx="26625" cy="91"/>
              </a:xfrm>
              <a:custGeom>
                <a:avLst/>
                <a:gdLst/>
                <a:ahLst/>
                <a:cxnLst/>
                <a:rect l="l" t="t" r="r" b="b"/>
                <a:pathLst>
                  <a:path w="26625" h="91" fill="none">
                    <a:moveTo>
                      <a:pt x="0" y="0"/>
                    </a:moveTo>
                    <a:lnTo>
                      <a:pt x="26625" y="0"/>
                    </a:lnTo>
                  </a:path>
                </a:pathLst>
              </a:custGeom>
              <a:noFill/>
              <a:ln w="14314" cap="rnd">
                <a:solidFill>
                  <a:srgbClr val="FFFFFF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  <p:sp>
            <p:nvSpPr>
              <p:cNvPr id="145" name="Mouth"/>
              <p:cNvSpPr/>
              <p:nvPr/>
            </p:nvSpPr>
            <p:spPr>
              <a:xfrm>
                <a:off x="2451016" y="1907526"/>
                <a:ext cx="38649" cy="18895"/>
              </a:xfrm>
              <a:custGeom>
                <a:avLst/>
                <a:gdLst/>
                <a:ahLst/>
                <a:cxnLst/>
                <a:rect l="l" t="t" r="r" b="b"/>
                <a:pathLst>
                  <a:path w="38649" h="18895" fill="none">
                    <a:moveTo>
                      <a:pt x="0" y="18895"/>
                    </a:moveTo>
                    <a:quadBezTo>
                      <a:pt x="19324" y="0"/>
                      <a:pt x="38649" y="18895"/>
                    </a:quadBezTo>
                  </a:path>
                </a:pathLst>
              </a:custGeom>
              <a:noFill/>
              <a:ln w="9543" cap="rnd">
                <a:solidFill>
                  <a:srgbClr val="FAD9CB"/>
                </a:solidFill>
                <a:round/>
              </a:ln>
              <a:effectLst/>
            </p:spPr>
            <p:txBody>
              <a:bodyPr rtlCol="0" anchor="ctr"/>
              <a:lstStyle/>
              <a:p>
                <a:endParaRPr lang="en-US" sz="800"/>
              </a:p>
            </p:txBody>
          </p:sp>
        </p:grpSp>
      </p:grpSp>
      <p:sp>
        <p:nvSpPr>
          <p:cNvPr id="148" name="Outcome label"/>
          <p:cNvSpPr txBox="1"/>
          <p:nvPr/>
        </p:nvSpPr>
        <p:spPr>
          <a:xfrm>
            <a:off x="2203704" y="2016252"/>
            <a:ext cx="530352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650" b="1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Stays wrong,</a:t>
            </a:r>
            <a:endParaRPr lang="en-US" sz="6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650" b="0" i="0" dirty="0">
                <a:solidFill>
                  <a:srgbClr val="B8461C"/>
                </a:solidFill>
                <a:latin typeface="Times New Roman"/>
                <a:ea typeface="Times New Roman"/>
                <a:cs typeface="Times New Roman"/>
              </a:rPr>
              <a:t>more confident</a:t>
            </a:r>
            <a:endParaRPr lang="en-US" sz="650" b="0" i="0" dirty="0">
              <a:solidFill>
                <a:srgbClr val="2B2B2B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